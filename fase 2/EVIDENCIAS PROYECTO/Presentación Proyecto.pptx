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charts/chart1.xml" ContentType="application/vnd.openxmlformats-officedocument.drawingml.chart+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Lst>
  <p:notesMasterIdLst>
    <p:notesMasterId r:id="rId12"/>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Proyecto" id="{d1426c60-a518-8a76-ab63-480c26345685}">
          <p14:sldIdLst>
            <p14:sldId id="256"/>
            <p14:sldId id="257"/>
            <p14:sldId id="258"/>
            <p14:sldId id="259"/>
          </p14:sldIdLst>
        </p14:section>
        <p14:section name="Solución técnica" id="{f6d1832b-f0a9-1d3f-8993-a30994b5f1e2}">
          <p14:sldIdLst>
            <p14:sldId id="260"/>
            <p14:sldId id="261"/>
          </p14:sldIdLst>
        </p14:section>
        <p14:section name="Gestión y avance" id="{714a6eee-349c-ee2c-59b5-debb87125786}">
          <p14:sldIdLst>
            <p14:sldId id="262"/>
            <p14:sldId id="263"/>
            <p14:sldId id="264"/>
          </p14:sldIdLst>
        </p14:section>
        <p14:section name="Cierre" id="{6c970bff-4f01-921d-c262-95d265c9d744}">
          <p14:sldIdLst>
            <p14:sldId id="265"/>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notesMaster" Target="notesMasters/notesMaster1.xml"/><Relationship Id="rId13" Type="http://schemas.openxmlformats.org/officeDocument/2006/relationships/presProps" Target="presProps.xml"/><Relationship Id="rId14" Type="http://schemas.openxmlformats.org/officeDocument/2006/relationships/viewProps" Target="viewProps.xml"/><Relationship Id="rId15" Type="http://schemas.openxmlformats.org/officeDocument/2006/relationships/theme" Target="theme/theme1.xml"/><Relationship Id="rId16" Type="http://schemas.openxmlformats.org/officeDocument/2006/relationships/tableStyles" Target="tableStyles.xml"/></Relationships>
</file>

<file path=ppt/charts/_rels/chart1.xml.rels><?xml version="1.0" encoding="UTF-8" standalone="yes"?><Relationships xmlns="http://schemas.openxmlformats.org/package/2006/relationships"><Relationship Id="rId1" Type="http://schemas.openxmlformats.org/officeDocument/2006/relationships/package" Target="../embeddings/Microsoft_Excel_Worksheet1.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400" b="0" i="0" u="none" strike="noStrike">
                <a:solidFill>
                  <a:srgbClr val="14213D"/>
                </a:solidFill>
                <a:latin typeface="+mn-lt"/>
              </a:defRPr>
            </a:pPr>
            <a:r>
              <a:rPr sz="1400" b="0" i="0" u="none" strike="noStrike">
                <a:solidFill>
                  <a:srgbClr val="14213D"/>
                </a:solidFill>
                <a:latin typeface="+mn-lt"/>
              </a:rPr>
              <a:t>Product Backlog: 226 puntos por prioridad</a:t>
            </a:r>
          </a:p>
        </c:rich>
      </c:tx>
      <c:layout/>
      <c:overlay val="0"/>
    </c:title>
    <c:autoTitleDeleted val="0"/>
    <c:plotArea>
      <c:layout/>
      <c:barChart>
        <c:barDir val="bar"/>
        <c:grouping val="clustered"/>
        <c:varyColors val="0"/>
        <c:ser>
          <c:idx val="0"/>
          <c:order val="0"/>
          <c:tx>
            <c:strRef>
              <c:f>Sheet1!$B$1</c:f>
              <c:strCache>
                <c:ptCount val="1"/>
                <c:pt idx="0">
                  <c:v>Puntos</c:v>
                </c:pt>
              </c:strCache>
            </c:strRef>
          </c:tx>
          <c:spPr>
            <a:solidFill>
              <a:srgbClr val="14213D"/>
            </a:solidFill>
            <a:effectLst/>
          </c:spPr>
          <c:invertIfNegative val="0"/>
          <c:dLbls>
            <c:numFmt formatCode="#,##0" sourceLinked="0"/>
            <c:txPr>
              <a:bodyPr/>
              <a:lstStyle/>
              <a:p>
                <a:pPr>
                  <a:defRPr b="0" i="0" strike="noStrike" sz="1200" u="none">
                    <a:solidFill>
                      <a:srgbClr val="1B1F2A"/>
                    </a:solidFill>
                    <a:latin typeface="+mn-lt"/>
                  </a:defRPr>
                </a:pPr>
              </a:p>
            </c:txPr>
            <c:showLegendKey val="0"/>
            <c:showVal val="1"/>
            <c:showCatName val="0"/>
            <c:showSerName val="0"/>
            <c:showPercent val="0"/>
            <c:showBubbleSize val="0"/>
            <c:showLeaderLines val="0"/>
          </c:dLbls>
          <c:cat>
            <c:multiLvlStrRef>
              <c:f>Sheet1!$A$2:$A$5</c:f>
              <c:multiLvlStrCache>
                <c:ptCount val="4"/>
                <c:lvl>
                  <c:pt idx="0">
                    <c:v>Must</c:v>
                  </c:pt>
                  <c:pt idx="1">
                    <c:v>Should</c:v>
                  </c:pt>
                  <c:pt idx="2">
                    <c:v>Could</c:v>
                  </c:pt>
                  <c:pt idx="3">
                    <c:v>Won't</c:v>
                  </c:pt>
                </c:lvl>
              </c:multiLvlStrCache>
            </c:multiLvlStrRef>
          </c:cat>
          <c:val>
            <c:numRef>
              <c:f>Sheet1!$B$2:$B$5</c:f>
              <c:numCache>
                <c:formatCode>General</c:formatCode>
                <c:ptCount val="4"/>
                <c:pt idx="0">
                  <c:v>88</c:v>
                </c:pt>
                <c:pt idx="1">
                  <c:v>42</c:v>
                </c:pt>
                <c:pt idx="2">
                  <c:v>34</c:v>
                </c:pt>
                <c:pt idx="3">
                  <c:v>62</c:v>
                </c:pt>
              </c:numCache>
            </c:numRef>
          </c:val>
        </c:ser>
        <c:dLbls>
          <c:numFmt formatCode="#,##0" sourceLinked="0"/>
          <c:txPr>
            <a:bodyPr/>
            <a:lstStyle/>
            <a:p>
              <a:pPr>
                <a:defRPr b="0" i="0" strike="noStrike" sz="1200" u="none">
                  <a:solidFill>
                    <a:srgbClr val="1B1F2A"/>
                  </a:solidFill>
                  <a:latin typeface="+mn-lt"/>
                </a:defRPr>
              </a:pPr>
            </a:p>
          </c:txPr>
          <c:showLegendKey val="0"/>
          <c:showVal val="1"/>
          <c:showCatName val="0"/>
          <c:showSerName val="0"/>
          <c:showPercent val="0"/>
          <c:showBubbleSize val="0"/>
          <c:showLeaderLines val="0"/>
        </c:dLbls>
        <c:gapWidth val="150"/>
        <c:overlap val="0"/>
        <c:axId val="2094734554"/>
        <c:axId val="2094734552"/>
        <c:axId val="2094734556"/>
      </c:barChart>
      <c:catAx>
        <c:axId val="2094734554"/>
        <c:scaling>
          <c:orientation val="maxMin"/>
        </c:scaling>
        <c:delete val="0"/>
        <c:axPos val="l"/>
        <c:numFmt formatCode="General" sourceLinked="1"/>
        <c:majorTickMark val="out"/>
        <c:minorTickMark val="none"/>
        <c:tickLblPos val="nextTo"/>
        <c:spPr>
          <a:ln w="12700" cap="flat">
            <a:solidFill>
              <a:srgbClr val="888888"/>
            </a:solidFill>
            <a:prstDash val="solid"/>
            <a:round/>
          </a:ln>
        </c:spPr>
        <c:txPr>
          <a:bodyPr/>
          <a:lstStyle/>
          <a:p>
            <a:pPr>
              <a:defRPr sz="1300" b="0" i="0" u="none" strike="noStrike">
                <a:solidFill>
                  <a:srgbClr val="1B1F2A"/>
                </a:solidFill>
                <a:latin typeface="+mn-lt"/>
              </a:defRPr>
            </a:pPr>
            <a:endParaRPr lang="en-US"/>
          </a:p>
        </c:txPr>
        <c:crossAx val="2094734552"/>
        <c:crosses val="autoZero"/>
        <c:auto val="1"/>
        <c:lblAlgn val="ctr"/>
        <c:noMultiLvlLbl val="1"/>
      </c:catAx>
      <c:valAx>
        <c:axId val="2094734552"/>
        <c:scaling>
          <c:orientation val="minMax"/>
        </c:scaling>
        <c:delete val="1"/>
        <c:axPos val="b"/>
        <c:numFmt formatCode="General" sourceLinked="0"/>
        <c:majorTickMark val="out"/>
        <c:minorTickMark val="none"/>
        <c:tickLblPos val="low"/>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JORGE (0:00–0:30). Buenas tardes. Somos el grupo 7 y presentamos el avance de RutaAlerta. Vamos a mostrar qué problema abordamos, qué construimos hasta hoy con evidencia, qué está pendiente y qué ajustes proponemos para las cinco semanas restantes. Yo presento el proyecto, Alan la solución técnica y la evidencia, y Juan la gestión con Scrum y los próximos pasos.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JORGE (0:30–1:30). El problema no es la falta de tecnología, sino la dispersión: el afectado no sabe si su reporte llegó, los aportes de testigos circulan sin verificación y la central no puede reconstruir quién revisó qué. RutaAlerta reúne todo en un expediente trazable, con aportes revisados por personas autorizadas y un seguimiento limitado para la víctima. También somos explícitos en lo que no prometemos: no predecimos delitos, no garantizamos rutas seguras y el GPS del teléfono de la víctima no sirve para seguir un vehículo ya robado.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JORGE (1:30–2:30). Separamos el alcance en cuatro niveles. El núcleo del MVP es lo que nos comprometemos a construir y medir: cuenta, reporte con folio, evidencia, colaboración revisada, bandeja institucional y seguimiento con contacto de confianza. La orientación territorial y la analítica las proponemos con alcance reducido, y la ampliación de cámaras e IA quedó diseñada pero la dejamos fuera de esta entrega mientras ustedes no la ratifiquen. No afirmamos convenios con municipalidades ni Carabineros.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JORGE (2:30–3:30). Nuestros objetivos no son tareas de programación: cada objetivo mide un resultado del uso de la plataforma, con meta, muestra y plazo: semanas 13 y 14. OE1 a OE4 vienen de la propuesta aprobada; OE5 y OE6 los agregamos en la versión 4.1 y están marcados como propuestos porque necesitan su ratificación. Ninguno está cumplido todavía: se miden en el piloto. Ahora Alan explica cómo está construido.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ALAN (3:30–4:45). La arquitectura es cliente-servidor con una API FastAPI como única puerta a la base: la app móvil y el panel nunca tocan PostgreSQL. Elegimos PostgreSQL con PostGIS porque el problema es territorial: cercanía de avistamientos y cobertura de cámaras. El color muestra el estado real: en verde, la base de datos, que está implementada y probada; en azul, lo diseñado; en gris, lo pendiente. Esta semana comenzamos la programación: una API inicial con registro, reporte con folio que no se duplica y bandeja por organización, con 10 pruebas automáticas aprobadas. Faltan la app y el panel, que construimos desde el Sprint 1.</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ALAN (4:45–6:00). El modelo tiene 56 tablas en ocho módulos y 110 claves foráneas. Las claves compuestas impiden, por ejemplo, que una evidencia de un caso se vincule a otro, o que un operador revise aportes de otra organización. Hoy volvimos a ejecutar los scripts y las 36 pruebas pasaron en las dos rutas de instalación. Somos claros en el límite: se ejecutó en PostgreSQL compilado a WebAssembly; repetirlo en un servidor nativo es la primera tarea del Sprint 1.</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JUAN (6:00–7:00). Para que el proyecto sea defendible, usamos identificadores consistentes: el requisito RF05, el caso de uso CU05 y la historia HU05 hablan de lo mismo. En el ejemplo de OE3, los aportes ciudadanos se trazan hasta pruebas que ya pasan en la base, como el rechazo de avistamientos con hora futura, y hasta la prueba de aceptación planificada con veinte ejercicios en el piloto. En total: 6 objetivos, 31 requisitos y casos de uso, 33 historias y 54 casos de prueba, 39 de ellos ejecutados.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JUAN (7:00–8:15). Formalizamos Scrum desde esta semana; antes trabajamos por áreas y no vamos a declarar reuniones que no tenemos registradas. El backlog suma 226 puntos; el MVP son 88 y lo ordenamos para cubrir primero el recorrido completo. El Sprint 1 compromete cuatro elementos: base técnica, cuenta, reporte y bandeja, con 46 horas repartidas entre los tres. Los puntos son estimaciones preliminares que validaremos en Planning Poker. Los roles ya están acordados: Jorge es Product Owner y Alan, Scrum Master.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ALAN (8:15–9:15). Este es el punto más importante: el diseño está completo, pero el desarrollo va atrasado. El plan del libro esperaba un primer flujo desplegado en la semana 8 y no tenemos código. Proponemos priorizar los objetivos 2, 3 y 4, evaluar el 1 con alcance reducido y diferir cámaras e IA. También vamos a corregir la evidencia individual: hasta hoy casi todos los archivos los subí yo; desde ahora cada uno sube su propio trabajo por rama y pull request.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JUAN (9:15–10:00). Para avanzar necesitamos tres decisiones suyas: si ratifican o no la ampliación de cámaras e IA con OE5 y OE6, si aceptan un alcance reducido para OE1 y las fechas exactas de la entrega final. Nuestros hitos son: 21 de octubre, el primer recorrido reporte–bandeja; 4 de noviembre, el piloto desplegado; y las mediciones entre el 5 y el 18 de noviembre. Muchas gracias; quedamos atentos a sus preguntas.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PORTADA">
    <p:bg>
      <p:bgPr>
        <a:solidFill>
          <a:schemeClr val="tx2"/>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731520" y="1554480"/>
            <a:ext cx="10698480" cy="1188720"/>
          </a:xfrm>
          <a:prstGeom prst="rect">
            <a:avLst/>
          </a:prstGeom>
          <a:noFill/>
          <a:ln/>
        </p:spPr>
        <p:txBody>
          <a:bodyPr wrap="square" rtlCol="0"/>
          <a:lstStyle>
            <a:lvl1pPr algn="l" indent="0" marL="0">
              <a:buNone/>
              <a:defRPr lang="en-US" sz="5400" b="1" dirty="0">
                <a:solidFill>
                  <a:schemeClr val="bg1"/>
                </a:solidFill>
                <a:latin typeface="Cambria" pitchFamily="34" charset="0"/>
                <a:ea typeface="Cambria" pitchFamily="34" charset="-122"/>
                <a:cs typeface="Cambria" pitchFamily="34" charset="-120"/>
              </a:defRPr>
            </a:lvl1pPr>
          </a:lstStyle>
          <a:p>
            <a:pPr algn="l" indent="0" marL="0">
              <a:buNone/>
            </a:pPr>
            <a:endParaRPr lang="en-US" sz="5400" dirty="0"/>
          </a:p>
        </p:txBody>
      </p:sp>
      <p:sp>
        <p:nvSpPr>
          <p:cNvPr id="3" name="Text 0"/>
          <p:cNvSpPr/>
          <p:nvPr>
            <p:ph idx="101" type="body" hasCustomPrompt="1"/>
          </p:nvPr>
        </p:nvSpPr>
        <p:spPr>
          <a:xfrm>
            <a:off x="731520" y="2880360"/>
            <a:ext cx="10698480" cy="731520"/>
          </a:xfrm>
          <a:prstGeom prst="rect">
            <a:avLst/>
          </a:prstGeom>
          <a:noFill/>
          <a:ln/>
        </p:spPr>
        <p:txBody>
          <a:bodyPr wrap="square" rtlCol="0"/>
          <a:lstStyle>
            <a:lvl1pPr indent="0" marL="0">
              <a:buNone/>
              <a:defRPr lang="en-US" sz="2200" dirty="0">
                <a:solidFill>
                  <a:schemeClr val="accent1"/>
                </a:solidFill>
              </a:defRPr>
            </a:lvl1pPr>
          </a:lstStyle>
          <a:p>
            <a:pPr indent="0" marL="0">
              <a:buNone/>
            </a:pPr>
            <a:endParaRPr lang="en-US" sz="2200"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CONTENIDO">
    <p:bg>
      <p:bgPr>
        <a:solidFill>
          <a:schemeClr val="bg1"/>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548640" y="274320"/>
            <a:ext cx="9326880" cy="868680"/>
          </a:xfrm>
          <a:prstGeom prst="rect">
            <a:avLst/>
          </a:prstGeom>
          <a:noFill/>
          <a:ln/>
        </p:spPr>
        <p:txBody>
          <a:bodyPr wrap="square" rtlCol="0"/>
          <a:lstStyle>
            <a:lvl1pPr algn="l" indent="0" marL="0">
              <a:buNone/>
              <a:defRPr lang="en-US" sz="2800" b="1" dirty="0">
                <a:solidFill>
                  <a:schemeClr val="tx2"/>
                </a:solidFill>
                <a:latin typeface="Cambria" pitchFamily="34" charset="0"/>
                <a:ea typeface="Cambria" pitchFamily="34" charset="-122"/>
                <a:cs typeface="Cambria" pitchFamily="34" charset="-120"/>
              </a:defRPr>
            </a:lvl1pPr>
          </a:lstStyle>
          <a:p>
            <a:pPr algn="l" indent="0" marL="0">
              <a:buNone/>
            </a:pPr>
            <a:endParaRPr lang="en-US" sz="2800" dirty="0"/>
          </a:p>
        </p:txBody>
      </p:sp>
      <p:sp>
        <p:nvSpPr>
          <p:cNvPr id="3" name="Text 0"/>
          <p:cNvSpPr/>
          <p:nvPr>
            <p:ph idx="101" type="body" hasCustomPrompt="1"/>
          </p:nvPr>
        </p:nvSpPr>
        <p:spPr>
          <a:xfrm>
            <a:off x="9966960" y="411480"/>
            <a:ext cx="1691640" cy="384048"/>
          </a:xfrm>
          <a:prstGeom prst="rect">
            <a:avLst/>
          </a:prstGeom>
          <a:solidFill>
            <a:schemeClr val="bg2"/>
          </a:solidFill>
          <a:ln/>
        </p:spPr>
        <p:txBody>
          <a:bodyPr wrap="square" rtlCol="0"/>
          <a:lstStyle>
            <a:lvl1pPr algn="ctr" indent="0" marL="0">
              <a:buNone/>
              <a:defRPr lang="en-US" sz="1200" dirty="0">
                <a:solidFill>
                  <a:schemeClr val="tx2"/>
                </a:solidFill>
              </a:defRPr>
            </a:lvl1pPr>
          </a:lstStyle>
          <a:p>
            <a:pPr algn="ctr" indent="0" marL="0">
              <a:buNone/>
            </a:pPr>
            <a:endParaRPr lang="en-US" sz="1200" dirty="0"/>
          </a:p>
        </p:txBody>
      </p:sp>
      <p:sp>
        <p:nvSpPr>
          <p:cNvPr id="4" name="Text 0"/>
          <p:cNvSpPr/>
          <p:nvPr/>
        </p:nvSpPr>
        <p:spPr>
          <a:xfrm>
            <a:off x="548640" y="6400800"/>
            <a:ext cx="7315200" cy="274320"/>
          </a:xfrm>
          <a:prstGeom prst="rect">
            <a:avLst/>
          </a:prstGeom>
          <a:noFill/>
          <a:ln/>
        </p:spPr>
        <p:txBody>
          <a:bodyPr wrap="square" lIns="0" tIns="0" rIns="0" bIns="0" rtlCol="0" anchor="ctr"/>
          <a:lstStyle/>
          <a:p>
            <a:pPr indent="0" marL="0">
              <a:buNone/>
            </a:pPr>
            <a:r>
              <a:rPr lang="en-US" sz="1000" dirty="0">
                <a:solidFill>
                  <a:schemeClr val="accent4"/>
                </a:solidFill>
              </a:rPr>
              <a:t>RutaAlerta · Grupo 7 · Avance Fase 2 · estado al 14/10/2026</a:t>
            </a:r>
            <a:endParaRPr lang="en-US" sz="1000" dirty="0"/>
          </a:p>
        </p:txBody>
      </p:sp>
      <p:sp>
        <p:nvSpPr>
          <p:cNvPr id="25" name="Slide Number Placeholder 0"/>
          <p:cNvSpPr>
            <a:spLocks noGrp="1"/>
          </p:cNvSpPr>
          <p:nvPr>
            <p:ph type="sldNum" sz="quarter" idx="4294967295"/>
          </p:nvPr>
        </p:nvSpPr>
        <p:spPr>
          <a:xfrm>
            <a:off x="1124712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l"/>
            <a:fld id="{F7021451-1387-4CA6-816F-3879F97B5CBC}" type="slidenum">
              <a:rPr b="0" lang="en-US"/>
              <a:t>1003</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CIERRE">
    <p:bg>
      <p:bgPr>
        <a:solidFill>
          <a:schemeClr val="tx2"/>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548640" y="365760"/>
            <a:ext cx="9326880" cy="868680"/>
          </a:xfrm>
          <a:prstGeom prst="rect">
            <a:avLst/>
          </a:prstGeom>
          <a:noFill/>
          <a:ln/>
        </p:spPr>
        <p:txBody>
          <a:bodyPr wrap="square" rtlCol="0"/>
          <a:lstStyle>
            <a:lvl1pPr algn="l" indent="0" marL="0">
              <a:buNone/>
              <a:defRPr lang="en-US" sz="2800" b="1" dirty="0">
                <a:solidFill>
                  <a:schemeClr val="bg1"/>
                </a:solidFill>
                <a:latin typeface="Cambria" pitchFamily="34" charset="0"/>
                <a:ea typeface="Cambria" pitchFamily="34" charset="-122"/>
                <a:cs typeface="Cambria" pitchFamily="34" charset="-120"/>
              </a:defRPr>
            </a:lvl1pPr>
          </a:lstStyle>
          <a:p>
            <a:pPr algn="l" indent="0" marL="0">
              <a:buNone/>
            </a:pPr>
            <a:endParaRPr lang="en-US" sz="2800" dirty="0"/>
          </a:p>
        </p:txBody>
      </p:sp>
      <p:sp>
        <p:nvSpPr>
          <p:cNvPr id="3" name="Text 0"/>
          <p:cNvSpPr/>
          <p:nvPr>
            <p:ph idx="101" type="body" hasCustomPrompt="1"/>
          </p:nvPr>
        </p:nvSpPr>
        <p:spPr>
          <a:xfrm>
            <a:off x="9966960" y="502920"/>
            <a:ext cx="1691640" cy="384048"/>
          </a:xfrm>
          <a:prstGeom prst="rect">
            <a:avLst/>
          </a:prstGeom>
          <a:solidFill>
            <a:schemeClr val="accent1"/>
          </a:solidFill>
          <a:ln/>
        </p:spPr>
        <p:txBody>
          <a:bodyPr wrap="square" rtlCol="0"/>
          <a:lstStyle>
            <a:lvl1pPr algn="ctr" indent="0" marL="0">
              <a:buNone/>
              <a:defRPr lang="en-US" sz="1200" dirty="0">
                <a:solidFill>
                  <a:schemeClr val="tx2"/>
                </a:solidFill>
              </a:defRPr>
            </a:lvl1pPr>
          </a:lstStyle>
          <a:p>
            <a:pPr algn="ctr" indent="0" marL="0">
              <a:buNone/>
            </a:pPr>
            <a:endParaRPr lang="en-US" sz="1200" dirty="0"/>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24712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l"/>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slideLayout" Target="../slideLayouts/slideLayout3.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slideLayout" Target="../slideLayouts/slideLayout3.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chart" Target="/ppt/charts/chart1.xml"/><Relationship Id="rId2" Type="http://schemas.openxmlformats.org/officeDocument/2006/relationships/slideLayout" Target="../slideLayouts/slideLayout3.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slideLayout" Target="../slideLayouts/slideLayout3.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0.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p:nvPr>
            <p:ph idx="100" type="title" hasCustomPrompt="1"/>
          </p:nvPr>
        </p:nvSpPr>
        <p:spPr>
          <a:xfrm>
            <a:off x="731520" y="1554480"/>
            <a:ext cx="10698480" cy="1188720"/>
          </a:xfrm>
          <a:prstGeom prst="rect">
            <a:avLst/>
          </a:prstGeom>
          <a:noFill/>
          <a:ln/>
        </p:spPr>
        <p:txBody>
          <a:bodyPr wrap="square" lIns="0" tIns="0" rIns="0" bIns="0" rtlCol="0" anchor="b"/>
          <a:lstStyle/>
          <a:p>
            <a:pPr algn="l" indent="0" marL="0">
              <a:buNone/>
            </a:pPr>
            <a:r>
              <a:rPr lang="en-US" sz="5400" b="1" dirty="0">
                <a:solidFill>
                  <a:schemeClr val="bg1"/>
                </a:solidFill>
                <a:latin typeface="Cambria" pitchFamily="34" charset="0"/>
                <a:ea typeface="Cambria" pitchFamily="34" charset="-122"/>
                <a:cs typeface="Cambria" pitchFamily="34" charset="-120"/>
              </a:rPr>
              <a:t>RutaAlerta</a:t>
            </a:r>
            <a:endParaRPr lang="en-US" sz="5400" dirty="0"/>
          </a:p>
        </p:txBody>
      </p:sp>
      <p:sp>
        <p:nvSpPr>
          <p:cNvPr id="3" name="Text 0"/>
          <p:cNvSpPr/>
          <p:nvPr>
            <p:ph idx="101" type="body" hasCustomPrompt="1"/>
          </p:nvPr>
        </p:nvSpPr>
        <p:spPr>
          <a:xfrm>
            <a:off x="731520" y="2880360"/>
            <a:ext cx="10698480" cy="731520"/>
          </a:xfrm>
          <a:prstGeom prst="rect">
            <a:avLst/>
          </a:prstGeom>
          <a:noFill/>
          <a:ln/>
        </p:spPr>
        <p:txBody>
          <a:bodyPr wrap="square" lIns="0" tIns="0" rIns="0" bIns="0" rtlCol="0"/>
          <a:lstStyle/>
          <a:p>
            <a:pPr indent="0" marL="0">
              <a:buNone/>
            </a:pPr>
            <a:r>
              <a:rPr lang="en-US" sz="2200" dirty="0">
                <a:solidFill>
                  <a:schemeClr val="accent1"/>
                </a:solidFill>
              </a:rPr>
              <a:t>Red ciudadana y asistencia al operador ante el robo de vehículos</a:t>
            </a:r>
            <a:endParaRPr lang="en-US" sz="2200" dirty="0"/>
          </a:p>
        </p:txBody>
      </p:sp>
      <p:sp>
        <p:nvSpPr>
          <p:cNvPr id="4" name="datos portada"/>
          <p:cNvSpPr txBox="1"/>
          <p:nvPr/>
        </p:nvSpPr>
        <p:spPr>
          <a:xfrm>
            <a:off x="731520" y="3977640"/>
            <a:ext cx="10515600" cy="1188720"/>
          </a:xfrm>
          <a:prstGeom prst="rect">
            <a:avLst/>
          </a:prstGeom>
          <a:noFill/>
          <a:ln/>
        </p:spPr>
        <p:txBody>
          <a:bodyPr wrap="square" lIns="0" tIns="0" rIns="0" bIns="0" rtlCol="0" anchor="ctr"/>
          <a:lstStyle/>
          <a:p>
            <a:pPr indent="0" marL="0">
              <a:spcAft>
                <a:spcPts val="600"/>
              </a:spcAft>
              <a:buNone/>
            </a:pPr>
            <a:r>
              <a:rPr lang="en-US" sz="1600" dirty="0">
                <a:solidFill>
                  <a:schemeClr val="bg1"/>
                </a:solidFill>
              </a:rPr>
              <a:t>Avance Fase 2 · Capstone Ingeniería en Informática · Duoc UC, sede San Andrés, Concepción</a:t>
            </a:r>
            <a:endParaRPr lang="en-US" sz="1600" dirty="0"/>
          </a:p>
          <a:p>
            <a:pPr indent="0" marL="0">
              <a:spcAft>
                <a:spcPts val="600"/>
              </a:spcAft>
              <a:buNone/>
            </a:pPr>
            <a:r>
              <a:rPr lang="en-US" sz="1600" dirty="0">
                <a:solidFill>
                  <a:schemeClr val="bg1"/>
                </a:solidFill>
              </a:rPr>
              <a:t>Grupo 7: Jorge Ceballos · Juan Marinan · Alan Bravo</a:t>
            </a:r>
            <a:endParaRPr lang="en-US" sz="1600" dirty="0"/>
          </a:p>
          <a:p>
            <a:pPr indent="0" marL="0">
              <a:spcAft>
                <a:spcPts val="600"/>
              </a:spcAft>
              <a:buNone/>
            </a:pPr>
            <a:r>
              <a:rPr lang="en-US" sz="1600" dirty="0">
                <a:solidFill>
                  <a:schemeClr val="bg1"/>
                </a:solidFill>
              </a:rPr>
              <a:t>Docentes guías: Juan Pablo Mellado Alarcón · Mabel Alejandra Herrera Pino</a:t>
            </a:r>
            <a:endParaRPr lang="en-US" sz="1600" dirty="0"/>
          </a:p>
        </p:txBody>
      </p:sp>
      <p:sp>
        <p:nvSpPr>
          <p:cNvPr id="5" name="fecha"/>
          <p:cNvSpPr txBox="1"/>
          <p:nvPr/>
        </p:nvSpPr>
        <p:spPr>
          <a:xfrm>
            <a:off x="731520" y="5669280"/>
            <a:ext cx="4206240" cy="292608"/>
          </a:xfrm>
          <a:prstGeom prst="roundRect">
            <a:avLst>
              <a:gd name="adj" fmla="val 50000"/>
            </a:avLst>
          </a:prstGeom>
          <a:solidFill>
            <a:schemeClr val="accent1"/>
          </a:solidFill>
          <a:ln/>
        </p:spPr>
        <p:txBody>
          <a:bodyPr wrap="square" lIns="0" tIns="0" rIns="0" bIns="0" rtlCol="0" anchor="ctr"/>
          <a:lstStyle/>
          <a:p>
            <a:pPr algn="ctr" indent="0" marL="0">
              <a:buNone/>
            </a:pPr>
            <a:r>
              <a:rPr lang="en-US" sz="1100" b="1" dirty="0">
                <a:solidFill>
                  <a:schemeClr val="tx2"/>
                </a:solidFill>
              </a:rPr>
              <a:t>Entrega de avance · 15/10/2026</a:t>
            </a:r>
            <a:endParaRPr lang="en-US" sz="11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ph idx="100" type="title" hasCustomPrompt="1"/>
          </p:nvPr>
        </p:nvSpPr>
        <p:spPr>
          <a:xfrm>
            <a:off x="548640" y="274320"/>
            <a:ext cx="9326880" cy="868680"/>
          </a:xfrm>
          <a:prstGeom prst="rect">
            <a:avLst/>
          </a:prstGeom>
          <a:noFill/>
          <a:ln/>
        </p:spPr>
        <p:txBody>
          <a:bodyPr wrap="square" lIns="0" tIns="0" rIns="0" bIns="0" rtlCol="0" anchor="ctr"/>
          <a:lstStyle/>
          <a:p>
            <a:pPr algn="l" indent="0" marL="0">
              <a:buNone/>
            </a:pPr>
            <a:r>
              <a:rPr lang="en-US" sz="2800" b="1" dirty="0">
                <a:solidFill>
                  <a:schemeClr val="tx2"/>
                </a:solidFill>
                <a:latin typeface="Cambria" pitchFamily="34" charset="0"/>
                <a:ea typeface="Cambria" pitchFamily="34" charset="-122"/>
                <a:cs typeface="Cambria" pitchFamily="34" charset="-120"/>
              </a:rPr>
              <a:t>Ante un robo, los antecedentes quedan dispersos</a:t>
            </a:r>
            <a:endParaRPr lang="en-US" sz="2800" dirty="0"/>
          </a:p>
        </p:txBody>
      </p:sp>
      <p:sp>
        <p:nvSpPr>
          <p:cNvPr id="3" name="Text 0"/>
          <p:cNvSpPr/>
          <p:nvPr>
            <p:ph idx="101" type="body" hasCustomPrompt="1"/>
          </p:nvPr>
        </p:nvSpPr>
        <p:spPr>
          <a:xfrm>
            <a:off x="9966960" y="411480"/>
            <a:ext cx="1691640" cy="384048"/>
          </a:xfrm>
          <a:prstGeom prst="rect">
            <a:avLst/>
          </a:prstGeom>
          <a:solidFill>
            <a:schemeClr val="bg2"/>
          </a:solidFill>
          <a:ln/>
        </p:spPr>
        <p:txBody>
          <a:bodyPr wrap="square" lIns="0" tIns="0" rIns="0" bIns="0" rtlCol="0" anchor="ctr"/>
          <a:lstStyle/>
          <a:p>
            <a:pPr algn="ctr" indent="0" marL="0">
              <a:buNone/>
            </a:pPr>
            <a:r>
              <a:rPr lang="en-US" sz="1200" dirty="0">
                <a:solidFill>
                  <a:schemeClr val="tx2"/>
                </a:solidFill>
              </a:rPr>
              <a:t>Jorge</a:t>
            </a:r>
            <a:endParaRPr lang="en-US" sz="1200" dirty="0"/>
          </a:p>
        </p:txBody>
      </p:sp>
      <p:sp>
        <p:nvSpPr>
          <p:cNvPr id="4" name="numero 1"/>
          <p:cNvSpPr txBox="1"/>
          <p:nvPr/>
        </p:nvSpPr>
        <p:spPr>
          <a:xfrm>
            <a:off x="548640" y="1600200"/>
            <a:ext cx="502920" cy="502920"/>
          </a:xfrm>
          <a:prstGeom prst="ellipse">
            <a:avLst/>
          </a:prstGeom>
          <a:solidFill>
            <a:schemeClr val="accent1"/>
          </a:solidFill>
          <a:ln/>
        </p:spPr>
        <p:txBody>
          <a:bodyPr wrap="square" lIns="0" tIns="0" rIns="0" bIns="0" rtlCol="0" anchor="ctr"/>
          <a:lstStyle/>
          <a:p>
            <a:pPr algn="ctr" indent="0" marL="0">
              <a:buNone/>
            </a:pPr>
            <a:r>
              <a:rPr lang="en-US" sz="1800" b="1" dirty="0">
                <a:solidFill>
                  <a:schemeClr val="tx2"/>
                </a:solidFill>
              </a:rPr>
              <a:t>1</a:t>
            </a:r>
            <a:endParaRPr lang="en-US" sz="1800" dirty="0"/>
          </a:p>
        </p:txBody>
      </p:sp>
      <p:sp>
        <p:nvSpPr>
          <p:cNvPr id="5" name="problema 1"/>
          <p:cNvSpPr txBox="1"/>
          <p:nvPr/>
        </p:nvSpPr>
        <p:spPr>
          <a:xfrm>
            <a:off x="1280160" y="1508760"/>
            <a:ext cx="5120640" cy="731520"/>
          </a:xfrm>
          <a:prstGeom prst="rect">
            <a:avLst/>
          </a:prstGeom>
          <a:noFill/>
          <a:ln/>
        </p:spPr>
        <p:txBody>
          <a:bodyPr wrap="square" lIns="0" tIns="0" rIns="0" bIns="0" rtlCol="0" anchor="ctr"/>
          <a:lstStyle/>
          <a:p>
            <a:pPr indent="0" marL="0">
              <a:buNone/>
            </a:pPr>
            <a:r>
              <a:rPr lang="en-US" sz="1800" dirty="0">
                <a:solidFill>
                  <a:schemeClr val="tx1"/>
                </a:solidFill>
              </a:rPr>
              <a:t>La persona afectada no sabe si su reporte fue recibido ni cuál es el siguiente paso</a:t>
            </a:r>
            <a:endParaRPr lang="en-US" sz="1800" dirty="0"/>
          </a:p>
        </p:txBody>
      </p:sp>
      <p:sp>
        <p:nvSpPr>
          <p:cNvPr id="6" name="numero 2"/>
          <p:cNvSpPr txBox="1"/>
          <p:nvPr/>
        </p:nvSpPr>
        <p:spPr>
          <a:xfrm>
            <a:off x="548640" y="2926080"/>
            <a:ext cx="502920" cy="502920"/>
          </a:xfrm>
          <a:prstGeom prst="ellipse">
            <a:avLst/>
          </a:prstGeom>
          <a:solidFill>
            <a:schemeClr val="accent1"/>
          </a:solidFill>
          <a:ln/>
        </p:spPr>
        <p:txBody>
          <a:bodyPr wrap="square" lIns="0" tIns="0" rIns="0" bIns="0" rtlCol="0" anchor="ctr"/>
          <a:lstStyle/>
          <a:p>
            <a:pPr algn="ctr" indent="0" marL="0">
              <a:buNone/>
            </a:pPr>
            <a:r>
              <a:rPr lang="en-US" sz="1800" b="1" dirty="0">
                <a:solidFill>
                  <a:schemeClr val="tx2"/>
                </a:solidFill>
              </a:rPr>
              <a:t>2</a:t>
            </a:r>
            <a:endParaRPr lang="en-US" sz="1800" dirty="0"/>
          </a:p>
        </p:txBody>
      </p:sp>
      <p:sp>
        <p:nvSpPr>
          <p:cNvPr id="7" name="problema 2"/>
          <p:cNvSpPr txBox="1"/>
          <p:nvPr/>
        </p:nvSpPr>
        <p:spPr>
          <a:xfrm>
            <a:off x="1280160" y="2834640"/>
            <a:ext cx="5120640" cy="731520"/>
          </a:xfrm>
          <a:prstGeom prst="rect">
            <a:avLst/>
          </a:prstGeom>
          <a:noFill/>
          <a:ln/>
        </p:spPr>
        <p:txBody>
          <a:bodyPr wrap="square" lIns="0" tIns="0" rIns="0" bIns="0" rtlCol="0" anchor="ctr"/>
          <a:lstStyle/>
          <a:p>
            <a:pPr indent="0" marL="0">
              <a:buNone/>
            </a:pPr>
            <a:r>
              <a:rPr lang="en-US" sz="1800" dirty="0">
                <a:solidFill>
                  <a:schemeClr val="tx1"/>
                </a:solidFill>
              </a:rPr>
              <a:t>Testigos y fotografías quedan en mensajes y redes, sin verificación ni trazabilidad</a:t>
            </a:r>
            <a:endParaRPr lang="en-US" sz="1800" dirty="0"/>
          </a:p>
        </p:txBody>
      </p:sp>
      <p:sp>
        <p:nvSpPr>
          <p:cNvPr id="8" name="numero 3"/>
          <p:cNvSpPr txBox="1"/>
          <p:nvPr/>
        </p:nvSpPr>
        <p:spPr>
          <a:xfrm>
            <a:off x="548640" y="4251960"/>
            <a:ext cx="502920" cy="502920"/>
          </a:xfrm>
          <a:prstGeom prst="ellipse">
            <a:avLst/>
          </a:prstGeom>
          <a:solidFill>
            <a:schemeClr val="accent1"/>
          </a:solidFill>
          <a:ln/>
        </p:spPr>
        <p:txBody>
          <a:bodyPr wrap="square" lIns="0" tIns="0" rIns="0" bIns="0" rtlCol="0" anchor="ctr"/>
          <a:lstStyle/>
          <a:p>
            <a:pPr algn="ctr" indent="0" marL="0">
              <a:buNone/>
            </a:pPr>
            <a:r>
              <a:rPr lang="en-US" sz="1800" b="1" dirty="0">
                <a:solidFill>
                  <a:schemeClr val="tx2"/>
                </a:solidFill>
              </a:rPr>
              <a:t>3</a:t>
            </a:r>
            <a:endParaRPr lang="en-US" sz="1800" dirty="0"/>
          </a:p>
        </p:txBody>
      </p:sp>
      <p:sp>
        <p:nvSpPr>
          <p:cNvPr id="9" name="problema 3"/>
          <p:cNvSpPr txBox="1"/>
          <p:nvPr/>
        </p:nvSpPr>
        <p:spPr>
          <a:xfrm>
            <a:off x="1280160" y="4160520"/>
            <a:ext cx="5120640" cy="731520"/>
          </a:xfrm>
          <a:prstGeom prst="rect">
            <a:avLst/>
          </a:prstGeom>
          <a:noFill/>
          <a:ln/>
        </p:spPr>
        <p:txBody>
          <a:bodyPr wrap="square" lIns="0" tIns="0" rIns="0" bIns="0" rtlCol="0" anchor="ctr"/>
          <a:lstStyle/>
          <a:p>
            <a:pPr indent="0" marL="0">
              <a:buNone/>
            </a:pPr>
            <a:r>
              <a:rPr lang="en-US" sz="1800" dirty="0">
                <a:solidFill>
                  <a:schemeClr val="tx1"/>
                </a:solidFill>
              </a:rPr>
              <a:t>El operador no puede reconstruir qué se revisó, cuándo y por quién</a:t>
            </a:r>
            <a:endParaRPr lang="en-US" sz="1800" dirty="0"/>
          </a:p>
        </p:txBody>
      </p:sp>
      <p:sp>
        <p:nvSpPr>
          <p:cNvPr id="10" name="tarjeta valor"/>
          <p:cNvSpPr/>
          <p:nvPr/>
        </p:nvSpPr>
        <p:spPr>
          <a:xfrm>
            <a:off x="6858000" y="1417320"/>
            <a:ext cx="4754880" cy="2514600"/>
          </a:xfrm>
          <a:prstGeom prst="roundRect">
            <a:avLst>
              <a:gd name="adj" fmla="val 4364"/>
            </a:avLst>
          </a:prstGeom>
          <a:solidFill>
            <a:schemeClr val="tx2"/>
          </a:solidFill>
          <a:ln w="9525">
            <a:solidFill>
              <a:schemeClr val="tx2"/>
            </a:solidFill>
            <a:prstDash val="solid"/>
          </a:ln>
        </p:spPr>
      </p:sp>
      <p:sp>
        <p:nvSpPr>
          <p:cNvPr id="11" name="texto valor"/>
          <p:cNvSpPr txBox="1"/>
          <p:nvPr/>
        </p:nvSpPr>
        <p:spPr>
          <a:xfrm>
            <a:off x="7132320" y="1600200"/>
            <a:ext cx="4206240" cy="2148840"/>
          </a:xfrm>
          <a:prstGeom prst="rect">
            <a:avLst/>
          </a:prstGeom>
          <a:noFill/>
          <a:ln/>
        </p:spPr>
        <p:txBody>
          <a:bodyPr wrap="square" lIns="0" tIns="0" rIns="0" bIns="0" rtlCol="0" anchor="t"/>
          <a:lstStyle/>
          <a:p>
            <a:pPr indent="0" marL="0">
              <a:spcAft>
                <a:spcPts val="800"/>
              </a:spcAft>
              <a:buNone/>
            </a:pPr>
            <a:r>
              <a:rPr lang="en-US" sz="1800" b="1" dirty="0">
                <a:solidFill>
                  <a:schemeClr val="accent1"/>
                </a:solidFill>
              </a:rPr>
              <a:t>Nuestra propuesta de valor</a:t>
            </a:r>
            <a:endParaRPr lang="en-US" sz="1800" dirty="0"/>
          </a:p>
          <a:p>
            <a:pPr indent="0" marL="0">
              <a:spcAft>
                <a:spcPts val="800"/>
              </a:spcAft>
              <a:buNone/>
            </a:pPr>
            <a:r>
              <a:rPr lang="en-US" sz="1600" dirty="0">
                <a:solidFill>
                  <a:schemeClr val="bg1"/>
                </a:solidFill>
              </a:rPr>
              <a:t>Un expediente trazable, colaboración ciudadana revisada por personas autorizadas y seguimiento limitado para la persona afectada.</a:t>
            </a:r>
            <a:endParaRPr lang="en-US" sz="1800" dirty="0"/>
          </a:p>
        </p:txBody>
      </p:sp>
      <p:sp>
        <p:nvSpPr>
          <p:cNvPr id="12" name="tarjeta limites"/>
          <p:cNvSpPr/>
          <p:nvPr/>
        </p:nvSpPr>
        <p:spPr>
          <a:xfrm>
            <a:off x="6858000" y="4160520"/>
            <a:ext cx="4754880" cy="1783080"/>
          </a:xfrm>
          <a:prstGeom prst="roundRect">
            <a:avLst>
              <a:gd name="adj" fmla="val 6154"/>
            </a:avLst>
          </a:prstGeom>
          <a:solidFill>
            <a:schemeClr val="bg2"/>
          </a:solidFill>
          <a:ln w="9525">
            <a:solidFill>
              <a:schemeClr val="bg2"/>
            </a:solidFill>
            <a:prstDash val="solid"/>
          </a:ln>
        </p:spPr>
      </p:sp>
      <p:sp>
        <p:nvSpPr>
          <p:cNvPr id="13" name="texto limites"/>
          <p:cNvSpPr txBox="1"/>
          <p:nvPr/>
        </p:nvSpPr>
        <p:spPr>
          <a:xfrm>
            <a:off x="7132320" y="4297680"/>
            <a:ext cx="4206240" cy="1554480"/>
          </a:xfrm>
          <a:prstGeom prst="rect">
            <a:avLst/>
          </a:prstGeom>
          <a:noFill/>
          <a:ln/>
        </p:spPr>
        <p:txBody>
          <a:bodyPr wrap="square" lIns="0" tIns="0" rIns="0" bIns="0" rtlCol="0" anchor="t"/>
          <a:lstStyle/>
          <a:p>
            <a:pPr indent="0" marL="0">
              <a:spcAft>
                <a:spcPts val="600"/>
              </a:spcAft>
              <a:buNone/>
            </a:pPr>
            <a:r>
              <a:rPr lang="en-US" sz="1600" b="1" dirty="0">
                <a:solidFill>
                  <a:schemeClr val="accent6"/>
                </a:solidFill>
              </a:rPr>
              <a:t>Lo que no prometemos</a:t>
            </a:r>
            <a:endParaRPr lang="en-US" sz="1600" dirty="0"/>
          </a:p>
          <a:p>
            <a:pPr indent="0" marL="0">
              <a:spcAft>
                <a:spcPts val="600"/>
              </a:spcAft>
              <a:buNone/>
            </a:pPr>
            <a:r>
              <a:rPr lang="en-US" sz="1400" dirty="0">
                <a:solidFill>
                  <a:schemeClr val="tx1"/>
                </a:solidFill>
              </a:rPr>
              <a:t>Predecir delitos, garantizar rutas seguras, recuperar el vehículo ni seguirlo con el GPS del teléfono de la víctima.</a:t>
            </a:r>
            <a:endParaRPr lang="en-US" sz="1600" dirty="0"/>
          </a:p>
        </p:txBody>
      </p:sp>
      <p:sp>
        <p:nvSpPr>
          <p:cNvPr id="25" name="Slide Number Placeholder 0"/>
          <p:cNvSpPr>
            <a:spLocks noGrp="1"/>
          </p:cNvSpPr>
          <p:nvPr>
            <p:ph type="sldNum" sz="quarter" idx="4294967295"/>
          </p:nvPr>
        </p:nvSpPr>
        <p:spPr>
          <a:xfrm>
            <a:off x="1124712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l"/>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ph idx="100" type="title" hasCustomPrompt="1"/>
          </p:nvPr>
        </p:nvSpPr>
        <p:spPr>
          <a:xfrm>
            <a:off x="548640" y="274320"/>
            <a:ext cx="9326880" cy="868680"/>
          </a:xfrm>
          <a:prstGeom prst="rect">
            <a:avLst/>
          </a:prstGeom>
          <a:noFill/>
          <a:ln/>
        </p:spPr>
        <p:txBody>
          <a:bodyPr wrap="square" lIns="0" tIns="0" rIns="0" bIns="0" rtlCol="0" anchor="ctr"/>
          <a:lstStyle/>
          <a:p>
            <a:pPr algn="l" indent="0" marL="0">
              <a:buNone/>
            </a:pPr>
            <a:r>
              <a:rPr lang="en-US" sz="2800" b="1" dirty="0">
                <a:solidFill>
                  <a:schemeClr val="tx2"/>
                </a:solidFill>
                <a:latin typeface="Cambria" pitchFamily="34" charset="0"/>
                <a:ea typeface="Cambria" pitchFamily="34" charset="-122"/>
                <a:cs typeface="Cambria" pitchFamily="34" charset="-120"/>
              </a:rPr>
              <a:t>Qué construimos y qué queda fuera de esta entrega</a:t>
            </a:r>
            <a:endParaRPr lang="en-US" sz="2800" dirty="0"/>
          </a:p>
        </p:txBody>
      </p:sp>
      <p:sp>
        <p:nvSpPr>
          <p:cNvPr id="3" name="Text 0"/>
          <p:cNvSpPr/>
          <p:nvPr>
            <p:ph idx="101" type="body" hasCustomPrompt="1"/>
          </p:nvPr>
        </p:nvSpPr>
        <p:spPr>
          <a:xfrm>
            <a:off x="9966960" y="411480"/>
            <a:ext cx="1691640" cy="384048"/>
          </a:xfrm>
          <a:prstGeom prst="rect">
            <a:avLst/>
          </a:prstGeom>
          <a:solidFill>
            <a:schemeClr val="bg2"/>
          </a:solidFill>
          <a:ln/>
        </p:spPr>
        <p:txBody>
          <a:bodyPr wrap="square" lIns="0" tIns="0" rIns="0" bIns="0" rtlCol="0" anchor="ctr"/>
          <a:lstStyle/>
          <a:p>
            <a:pPr algn="ctr" indent="0" marL="0">
              <a:buNone/>
            </a:pPr>
            <a:r>
              <a:rPr lang="en-US" sz="1200" dirty="0">
                <a:solidFill>
                  <a:schemeClr val="tx2"/>
                </a:solidFill>
              </a:rPr>
              <a:t>Jorge</a:t>
            </a:r>
            <a:endParaRPr lang="en-US" sz="1200" dirty="0"/>
          </a:p>
        </p:txBody>
      </p:sp>
      <p:sp>
        <p:nvSpPr>
          <p:cNvPr id="4" name="nivel 1"/>
          <p:cNvSpPr/>
          <p:nvPr/>
        </p:nvSpPr>
        <p:spPr>
          <a:xfrm>
            <a:off x="548640" y="1371600"/>
            <a:ext cx="11064240" cy="1005840"/>
          </a:xfrm>
          <a:prstGeom prst="roundRect">
            <a:avLst>
              <a:gd name="adj" fmla="val 10909"/>
            </a:avLst>
          </a:prstGeom>
          <a:solidFill>
            <a:srgbClr val="EEF1F6"/>
          </a:solidFill>
          <a:ln w="9525">
            <a:solidFill>
              <a:srgbClr val="EEF1F6"/>
            </a:solidFill>
            <a:prstDash val="solid"/>
          </a:ln>
        </p:spPr>
      </p:sp>
      <p:sp>
        <p:nvSpPr>
          <p:cNvPr id="5" name="nivel titulo 1"/>
          <p:cNvSpPr txBox="1"/>
          <p:nvPr/>
        </p:nvSpPr>
        <p:spPr>
          <a:xfrm>
            <a:off x="777240" y="1463040"/>
            <a:ext cx="3108960" cy="822960"/>
          </a:xfrm>
          <a:prstGeom prst="rect">
            <a:avLst/>
          </a:prstGeom>
          <a:noFill/>
          <a:ln/>
        </p:spPr>
        <p:txBody>
          <a:bodyPr wrap="square" lIns="0" tIns="0" rIns="0" bIns="0" rtlCol="0" anchor="ctr"/>
          <a:lstStyle/>
          <a:p>
            <a:pPr indent="0" marL="0">
              <a:buNone/>
            </a:pPr>
            <a:r>
              <a:rPr lang="en-US" sz="1800" b="1" dirty="0">
                <a:solidFill>
                  <a:schemeClr val="tx2"/>
                </a:solidFill>
              </a:rPr>
              <a:t>Núcleo del MVP</a:t>
            </a:r>
            <a:endParaRPr lang="en-US" sz="1800" dirty="0"/>
          </a:p>
        </p:txBody>
      </p:sp>
      <p:sp>
        <p:nvSpPr>
          <p:cNvPr id="6" name="nivel texto 1"/>
          <p:cNvSpPr txBox="1"/>
          <p:nvPr/>
        </p:nvSpPr>
        <p:spPr>
          <a:xfrm>
            <a:off x="3931920" y="1463040"/>
            <a:ext cx="4937760" cy="822960"/>
          </a:xfrm>
          <a:prstGeom prst="rect">
            <a:avLst/>
          </a:prstGeom>
          <a:noFill/>
          <a:ln/>
        </p:spPr>
        <p:txBody>
          <a:bodyPr wrap="square" lIns="0" tIns="0" rIns="0" bIns="0" rtlCol="0" anchor="ctr"/>
          <a:lstStyle/>
          <a:p>
            <a:pPr indent="0" marL="0">
              <a:buNone/>
            </a:pPr>
            <a:r>
              <a:rPr lang="en-US" sz="1400" dirty="0">
                <a:solidFill>
                  <a:schemeClr val="tx1"/>
                </a:solidFill>
              </a:rPr>
              <a:t>Cuenta y vehículo, reporte con folio, evidencia, solicitudes y avistamientos revisados, bandeja, seguimiento y contacto de confianza</a:t>
            </a:r>
            <a:endParaRPr lang="en-US" sz="1400" dirty="0"/>
          </a:p>
        </p:txBody>
      </p:sp>
      <p:sp>
        <p:nvSpPr>
          <p:cNvPr id="7" name="nivel estado 1"/>
          <p:cNvSpPr txBox="1"/>
          <p:nvPr/>
        </p:nvSpPr>
        <p:spPr>
          <a:xfrm>
            <a:off x="9098280" y="1728216"/>
            <a:ext cx="2286000" cy="292608"/>
          </a:xfrm>
          <a:prstGeom prst="roundRect">
            <a:avLst>
              <a:gd name="adj" fmla="val 50000"/>
            </a:avLst>
          </a:prstGeom>
          <a:solidFill>
            <a:srgbClr val="2F855A"/>
          </a:solidFill>
          <a:ln/>
        </p:spPr>
        <p:txBody>
          <a:bodyPr wrap="square" lIns="0" tIns="0" rIns="0" bIns="0" rtlCol="0" anchor="ctr"/>
          <a:lstStyle/>
          <a:p>
            <a:pPr algn="ctr" indent="0" marL="0">
              <a:buNone/>
            </a:pPr>
            <a:r>
              <a:rPr lang="en-US" sz="1100" b="1" dirty="0">
                <a:solidFill>
                  <a:srgbClr val="FFFFFF"/>
                </a:solidFill>
              </a:rPr>
              <a:t>Comprometido · 88 pts</a:t>
            </a:r>
            <a:endParaRPr lang="en-US" sz="1100" dirty="0"/>
          </a:p>
        </p:txBody>
      </p:sp>
      <p:sp>
        <p:nvSpPr>
          <p:cNvPr id="8" name="nivel 2"/>
          <p:cNvSpPr/>
          <p:nvPr/>
        </p:nvSpPr>
        <p:spPr>
          <a:xfrm>
            <a:off x="548640" y="2560320"/>
            <a:ext cx="11064240" cy="1005840"/>
          </a:xfrm>
          <a:prstGeom prst="roundRect">
            <a:avLst>
              <a:gd name="adj" fmla="val 10909"/>
            </a:avLst>
          </a:prstGeom>
          <a:solidFill>
            <a:srgbClr val="EEF1F6"/>
          </a:solidFill>
          <a:ln w="9525">
            <a:solidFill>
              <a:srgbClr val="EEF1F6"/>
            </a:solidFill>
            <a:prstDash val="solid"/>
          </a:ln>
        </p:spPr>
      </p:sp>
      <p:sp>
        <p:nvSpPr>
          <p:cNvPr id="9" name="nivel titulo 2"/>
          <p:cNvSpPr txBox="1"/>
          <p:nvPr/>
        </p:nvSpPr>
        <p:spPr>
          <a:xfrm>
            <a:off x="777240" y="2651760"/>
            <a:ext cx="3108960" cy="822960"/>
          </a:xfrm>
          <a:prstGeom prst="rect">
            <a:avLst/>
          </a:prstGeom>
          <a:noFill/>
          <a:ln/>
        </p:spPr>
        <p:txBody>
          <a:bodyPr wrap="square" lIns="0" tIns="0" rIns="0" bIns="0" rtlCol="0" anchor="ctr"/>
          <a:lstStyle/>
          <a:p>
            <a:pPr indent="0" marL="0">
              <a:buNone/>
            </a:pPr>
            <a:r>
              <a:rPr lang="en-US" sz="1800" b="1" dirty="0">
                <a:solidFill>
                  <a:schemeClr val="tx2"/>
                </a:solidFill>
              </a:rPr>
              <a:t>Orientación y analítica</a:t>
            </a:r>
            <a:endParaRPr lang="en-US" sz="1800" dirty="0"/>
          </a:p>
        </p:txBody>
      </p:sp>
      <p:sp>
        <p:nvSpPr>
          <p:cNvPr id="10" name="nivel texto 2"/>
          <p:cNvSpPr txBox="1"/>
          <p:nvPr/>
        </p:nvSpPr>
        <p:spPr>
          <a:xfrm>
            <a:off x="3931920" y="2651760"/>
            <a:ext cx="4937760" cy="822960"/>
          </a:xfrm>
          <a:prstGeom prst="rect">
            <a:avLst/>
          </a:prstGeom>
          <a:noFill/>
          <a:ln/>
        </p:spPr>
        <p:txBody>
          <a:bodyPr wrap="square" lIns="0" tIns="0" rIns="0" bIns="0" rtlCol="0" anchor="ctr"/>
          <a:lstStyle/>
          <a:p>
            <a:pPr indent="0" marL="0">
              <a:buNone/>
            </a:pPr>
            <a:r>
              <a:rPr lang="en-US" sz="1400" dirty="0">
                <a:solidFill>
                  <a:schemeClr val="tx1"/>
                </a:solidFill>
              </a:rPr>
              <a:t>Antecedentes territoriales con fuente, comparación de rutas, avisos de trayecto e indicadores M01–M18</a:t>
            </a:r>
            <a:endParaRPr lang="en-US" sz="1400" dirty="0"/>
          </a:p>
        </p:txBody>
      </p:sp>
      <p:sp>
        <p:nvSpPr>
          <p:cNvPr id="11" name="nivel estado 2"/>
          <p:cNvSpPr txBox="1"/>
          <p:nvPr/>
        </p:nvSpPr>
        <p:spPr>
          <a:xfrm>
            <a:off x="9098280" y="2916936"/>
            <a:ext cx="2286000" cy="292608"/>
          </a:xfrm>
          <a:prstGeom prst="roundRect">
            <a:avLst>
              <a:gd name="adj" fmla="val 50000"/>
            </a:avLst>
          </a:prstGeom>
          <a:solidFill>
            <a:srgbClr val="2B6CB0"/>
          </a:solidFill>
          <a:ln/>
        </p:spPr>
        <p:txBody>
          <a:bodyPr wrap="square" lIns="0" tIns="0" rIns="0" bIns="0" rtlCol="0" anchor="ctr"/>
          <a:lstStyle/>
          <a:p>
            <a:pPr algn="ctr" indent="0" marL="0">
              <a:buNone/>
            </a:pPr>
            <a:r>
              <a:rPr lang="en-US" sz="1100" b="1" dirty="0">
                <a:solidFill>
                  <a:srgbClr val="FFFFFF"/>
                </a:solidFill>
              </a:rPr>
              <a:t>A acordar con docentes</a:t>
            </a:r>
            <a:endParaRPr lang="en-US" sz="1100" dirty="0"/>
          </a:p>
        </p:txBody>
      </p:sp>
      <p:sp>
        <p:nvSpPr>
          <p:cNvPr id="12" name="nivel 3"/>
          <p:cNvSpPr/>
          <p:nvPr/>
        </p:nvSpPr>
        <p:spPr>
          <a:xfrm>
            <a:off x="548640" y="3749040"/>
            <a:ext cx="11064240" cy="1005840"/>
          </a:xfrm>
          <a:prstGeom prst="roundRect">
            <a:avLst>
              <a:gd name="adj" fmla="val 10909"/>
            </a:avLst>
          </a:prstGeom>
          <a:solidFill>
            <a:srgbClr val="EEF1F6"/>
          </a:solidFill>
          <a:ln w="9525">
            <a:solidFill>
              <a:srgbClr val="EEF1F6"/>
            </a:solidFill>
            <a:prstDash val="solid"/>
          </a:ln>
        </p:spPr>
      </p:sp>
      <p:sp>
        <p:nvSpPr>
          <p:cNvPr id="13" name="nivel titulo 3"/>
          <p:cNvSpPr txBox="1"/>
          <p:nvPr/>
        </p:nvSpPr>
        <p:spPr>
          <a:xfrm>
            <a:off x="777240" y="3840480"/>
            <a:ext cx="3108960" cy="822960"/>
          </a:xfrm>
          <a:prstGeom prst="rect">
            <a:avLst/>
          </a:prstGeom>
          <a:noFill/>
          <a:ln/>
        </p:spPr>
        <p:txBody>
          <a:bodyPr wrap="square" lIns="0" tIns="0" rIns="0" bIns="0" rtlCol="0" anchor="ctr"/>
          <a:lstStyle/>
          <a:p>
            <a:pPr indent="0" marL="0">
              <a:buNone/>
            </a:pPr>
            <a:r>
              <a:rPr lang="en-US" sz="1800" b="1" dirty="0">
                <a:solidFill>
                  <a:schemeClr val="tx2"/>
                </a:solidFill>
              </a:rPr>
              <a:t>Cámaras e IA (ampliación)</a:t>
            </a:r>
            <a:endParaRPr lang="en-US" sz="1800" dirty="0"/>
          </a:p>
        </p:txBody>
      </p:sp>
      <p:sp>
        <p:nvSpPr>
          <p:cNvPr id="14" name="nivel texto 3"/>
          <p:cNvSpPr txBox="1"/>
          <p:nvPr/>
        </p:nvSpPr>
        <p:spPr>
          <a:xfrm>
            <a:off x="3931920" y="3840480"/>
            <a:ext cx="4937760" cy="822960"/>
          </a:xfrm>
          <a:prstGeom prst="rect">
            <a:avLst/>
          </a:prstGeom>
          <a:noFill/>
          <a:ln/>
        </p:spPr>
        <p:txBody>
          <a:bodyPr wrap="square" lIns="0" tIns="0" rIns="0" bIns="0" rtlCol="0" anchor="ctr"/>
          <a:lstStyle/>
          <a:p>
            <a:pPr indent="0" marL="0">
              <a:buNone/>
            </a:pPr>
            <a:r>
              <a:rPr lang="en-US" sz="1400" dirty="0">
                <a:solidFill>
                  <a:schemeClr val="tx1"/>
                </a:solidFill>
              </a:rPr>
              <a:t>Cámaras autorizadas, recorridos posibles, comparación visual y copiloto con evidencia verificable</a:t>
            </a:r>
            <a:endParaRPr lang="en-US" sz="1400" dirty="0"/>
          </a:p>
        </p:txBody>
      </p:sp>
      <p:sp>
        <p:nvSpPr>
          <p:cNvPr id="15" name="nivel estado 3"/>
          <p:cNvSpPr txBox="1"/>
          <p:nvPr/>
        </p:nvSpPr>
        <p:spPr>
          <a:xfrm>
            <a:off x="9098280" y="4105656"/>
            <a:ext cx="2286000" cy="292608"/>
          </a:xfrm>
          <a:prstGeom prst="roundRect">
            <a:avLst>
              <a:gd name="adj" fmla="val 50000"/>
            </a:avLst>
          </a:prstGeom>
          <a:solidFill>
            <a:srgbClr val="B7791F"/>
          </a:solidFill>
          <a:ln/>
        </p:spPr>
        <p:txBody>
          <a:bodyPr wrap="square" lIns="0" tIns="0" rIns="0" bIns="0" rtlCol="0" anchor="ctr"/>
          <a:lstStyle/>
          <a:p>
            <a:pPr algn="ctr" indent="0" marL="0">
              <a:buNone/>
            </a:pPr>
            <a:r>
              <a:rPr lang="en-US" sz="1100" b="1" dirty="0">
                <a:solidFill>
                  <a:srgbClr val="FFFFFF"/>
                </a:solidFill>
              </a:rPr>
              <a:t>Sin ratificar · diferido</a:t>
            </a:r>
            <a:endParaRPr lang="en-US" sz="1100" dirty="0"/>
          </a:p>
        </p:txBody>
      </p:sp>
      <p:sp>
        <p:nvSpPr>
          <p:cNvPr id="16" name="nivel 4"/>
          <p:cNvSpPr/>
          <p:nvPr/>
        </p:nvSpPr>
        <p:spPr>
          <a:xfrm>
            <a:off x="548640" y="4937760"/>
            <a:ext cx="11064240" cy="1005840"/>
          </a:xfrm>
          <a:prstGeom prst="roundRect">
            <a:avLst>
              <a:gd name="adj" fmla="val 10909"/>
            </a:avLst>
          </a:prstGeom>
          <a:solidFill>
            <a:srgbClr val="EEF1F6"/>
          </a:solidFill>
          <a:ln w="9525">
            <a:solidFill>
              <a:srgbClr val="EEF1F6"/>
            </a:solidFill>
            <a:prstDash val="solid"/>
          </a:ln>
        </p:spPr>
      </p:sp>
      <p:sp>
        <p:nvSpPr>
          <p:cNvPr id="17" name="nivel titulo 4"/>
          <p:cNvSpPr txBox="1"/>
          <p:nvPr/>
        </p:nvSpPr>
        <p:spPr>
          <a:xfrm>
            <a:off x="777240" y="5029200"/>
            <a:ext cx="3108960" cy="822960"/>
          </a:xfrm>
          <a:prstGeom prst="rect">
            <a:avLst/>
          </a:prstGeom>
          <a:noFill/>
          <a:ln/>
        </p:spPr>
        <p:txBody>
          <a:bodyPr wrap="square" lIns="0" tIns="0" rIns="0" bIns="0" rtlCol="0" anchor="ctr"/>
          <a:lstStyle/>
          <a:p>
            <a:pPr indent="0" marL="0">
              <a:buNone/>
            </a:pPr>
            <a:r>
              <a:rPr lang="en-US" sz="1800" b="1" dirty="0">
                <a:solidFill>
                  <a:schemeClr val="tx2"/>
                </a:solidFill>
              </a:rPr>
              <a:t>Integración institucional</a:t>
            </a:r>
            <a:endParaRPr lang="en-US" sz="1800" dirty="0"/>
          </a:p>
        </p:txBody>
      </p:sp>
      <p:sp>
        <p:nvSpPr>
          <p:cNvPr id="18" name="nivel texto 4"/>
          <p:cNvSpPr txBox="1"/>
          <p:nvPr/>
        </p:nvSpPr>
        <p:spPr>
          <a:xfrm>
            <a:off x="3931920" y="5029200"/>
            <a:ext cx="4937760" cy="822960"/>
          </a:xfrm>
          <a:prstGeom prst="rect">
            <a:avLst/>
          </a:prstGeom>
          <a:noFill/>
          <a:ln/>
        </p:spPr>
        <p:txBody>
          <a:bodyPr wrap="square" lIns="0" tIns="0" rIns="0" bIns="0" rtlCol="0" anchor="ctr"/>
          <a:lstStyle/>
          <a:p>
            <a:pPr indent="0" marL="0">
              <a:buNone/>
            </a:pPr>
            <a:r>
              <a:rPr lang="en-US" sz="1400" dirty="0">
                <a:solidFill>
                  <a:schemeClr val="tx1"/>
                </a:solidFill>
              </a:rPr>
              <a:t>Municipalidades, Carabineros o centrales reales</a:t>
            </a:r>
            <a:endParaRPr lang="en-US" sz="1400" dirty="0"/>
          </a:p>
        </p:txBody>
      </p:sp>
      <p:sp>
        <p:nvSpPr>
          <p:cNvPr id="19" name="nivel estado 4"/>
          <p:cNvSpPr txBox="1"/>
          <p:nvPr/>
        </p:nvSpPr>
        <p:spPr>
          <a:xfrm>
            <a:off x="9098280" y="5294376"/>
            <a:ext cx="2286000" cy="292608"/>
          </a:xfrm>
          <a:prstGeom prst="roundRect">
            <a:avLst>
              <a:gd name="adj" fmla="val 50000"/>
            </a:avLst>
          </a:prstGeom>
          <a:solidFill>
            <a:srgbClr val="6B7280"/>
          </a:solidFill>
          <a:ln/>
        </p:spPr>
        <p:txBody>
          <a:bodyPr wrap="square" lIns="0" tIns="0" rIns="0" bIns="0" rtlCol="0" anchor="ctr"/>
          <a:lstStyle/>
          <a:p>
            <a:pPr algn="ctr" indent="0" marL="0">
              <a:buNone/>
            </a:pPr>
            <a:r>
              <a:rPr lang="en-US" sz="1100" b="1" dirty="0">
                <a:solidFill>
                  <a:srgbClr val="FFFFFF"/>
                </a:solidFill>
              </a:rPr>
              <a:t>Fuera del curso: sin convenio</a:t>
            </a:r>
            <a:endParaRPr lang="en-US" sz="1100" dirty="0"/>
          </a:p>
        </p:txBody>
      </p:sp>
      <p:sp>
        <p:nvSpPr>
          <p:cNvPr id="20" name="nota publico"/>
          <p:cNvSpPr txBox="1"/>
          <p:nvPr/>
        </p:nvSpPr>
        <p:spPr>
          <a:xfrm>
            <a:off x="548640" y="5989320"/>
            <a:ext cx="11064240" cy="320040"/>
          </a:xfrm>
          <a:prstGeom prst="rect">
            <a:avLst/>
          </a:prstGeom>
          <a:noFill/>
          <a:ln/>
        </p:spPr>
        <p:txBody>
          <a:bodyPr wrap="square" lIns="0" tIns="0" rIns="0" bIns="0" rtlCol="0" anchor="ctr"/>
          <a:lstStyle/>
          <a:p>
            <a:pPr indent="0" marL="0">
              <a:buNone/>
            </a:pPr>
            <a:r>
              <a:rPr lang="en-US" sz="1200" i="1" dirty="0">
                <a:solidFill>
                  <a:schemeClr val="accent4"/>
                </a:solidFill>
              </a:rPr>
              <a:t>Público general; taxistas y conductores de aplicaciones son un posible grupo piloto, no los únicos usuarios.</a:t>
            </a:r>
            <a:endParaRPr lang="en-US" sz="1200" dirty="0"/>
          </a:p>
        </p:txBody>
      </p:sp>
      <p:sp>
        <p:nvSpPr>
          <p:cNvPr id="25" name="Slide Number Placeholder 0"/>
          <p:cNvSpPr>
            <a:spLocks noGrp="1"/>
          </p:cNvSpPr>
          <p:nvPr>
            <p:ph type="sldNum" sz="quarter" idx="4294967295"/>
          </p:nvPr>
        </p:nvSpPr>
        <p:spPr>
          <a:xfrm>
            <a:off x="1124712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l"/>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ph idx="100" type="title" hasCustomPrompt="1"/>
          </p:nvPr>
        </p:nvSpPr>
        <p:spPr>
          <a:xfrm>
            <a:off x="548640" y="274320"/>
            <a:ext cx="9326880" cy="868680"/>
          </a:xfrm>
          <a:prstGeom prst="rect">
            <a:avLst/>
          </a:prstGeom>
          <a:noFill/>
          <a:ln/>
        </p:spPr>
        <p:txBody>
          <a:bodyPr wrap="square" lIns="0" tIns="0" rIns="0" bIns="0" rtlCol="0" anchor="ctr"/>
          <a:lstStyle/>
          <a:p>
            <a:pPr algn="l" indent="0" marL="0">
              <a:buNone/>
            </a:pPr>
            <a:r>
              <a:rPr lang="en-US" sz="2800" b="1" dirty="0">
                <a:solidFill>
                  <a:schemeClr val="tx2"/>
                </a:solidFill>
                <a:latin typeface="Cambria" pitchFamily="34" charset="0"/>
                <a:ea typeface="Cambria" pitchFamily="34" charset="-122"/>
                <a:cs typeface="Cambria" pitchFamily="34" charset="-120"/>
              </a:rPr>
              <a:t>Objetivos medibles evaluados en el piloto</a:t>
            </a:r>
            <a:endParaRPr lang="en-US" sz="2800" dirty="0"/>
          </a:p>
        </p:txBody>
      </p:sp>
      <p:sp>
        <p:nvSpPr>
          <p:cNvPr id="3" name="Text 0"/>
          <p:cNvSpPr/>
          <p:nvPr>
            <p:ph idx="101" type="body" hasCustomPrompt="1"/>
          </p:nvPr>
        </p:nvSpPr>
        <p:spPr>
          <a:xfrm>
            <a:off x="9966960" y="411480"/>
            <a:ext cx="1691640" cy="384048"/>
          </a:xfrm>
          <a:prstGeom prst="rect">
            <a:avLst/>
          </a:prstGeom>
          <a:solidFill>
            <a:schemeClr val="bg2"/>
          </a:solidFill>
          <a:ln/>
        </p:spPr>
        <p:txBody>
          <a:bodyPr wrap="square" lIns="0" tIns="0" rIns="0" bIns="0" rtlCol="0" anchor="ctr"/>
          <a:lstStyle/>
          <a:p>
            <a:pPr algn="ctr" indent="0" marL="0">
              <a:buNone/>
            </a:pPr>
            <a:r>
              <a:rPr lang="en-US" sz="1200" dirty="0">
                <a:solidFill>
                  <a:schemeClr val="tx2"/>
                </a:solidFill>
              </a:rPr>
              <a:t>Jorge</a:t>
            </a:r>
            <a:endParaRPr lang="en-US" sz="1200" dirty="0"/>
          </a:p>
        </p:txBody>
      </p:sp>
      <p:sp>
        <p:nvSpPr>
          <p:cNvPr id="4" name="objetivo OE1"/>
          <p:cNvSpPr/>
          <p:nvPr/>
        </p:nvSpPr>
        <p:spPr>
          <a:xfrm>
            <a:off x="548640" y="1371600"/>
            <a:ext cx="3520440" cy="2103120"/>
          </a:xfrm>
          <a:prstGeom prst="roundRect">
            <a:avLst>
              <a:gd name="adj" fmla="val 5217"/>
            </a:avLst>
          </a:prstGeom>
          <a:solidFill>
            <a:srgbClr val="EEF1F6"/>
          </a:solidFill>
          <a:ln w="9525">
            <a:solidFill>
              <a:srgbClr val="EEF1F6"/>
            </a:solidFill>
            <a:prstDash val="solid"/>
          </a:ln>
        </p:spPr>
      </p:sp>
      <p:sp>
        <p:nvSpPr>
          <p:cNvPr id="5" name="id OE1"/>
          <p:cNvSpPr txBox="1"/>
          <p:nvPr/>
        </p:nvSpPr>
        <p:spPr>
          <a:xfrm>
            <a:off x="777240" y="1536192"/>
            <a:ext cx="1280160" cy="502920"/>
          </a:xfrm>
          <a:prstGeom prst="rect">
            <a:avLst/>
          </a:prstGeom>
          <a:noFill/>
          <a:ln/>
        </p:spPr>
        <p:txBody>
          <a:bodyPr wrap="square" lIns="0" tIns="0" rIns="0" bIns="0" rtlCol="0" anchor="ctr"/>
          <a:lstStyle/>
          <a:p>
            <a:pPr indent="0" marL="0">
              <a:buNone/>
            </a:pPr>
            <a:r>
              <a:rPr lang="en-US" sz="2600" b="1" dirty="0">
                <a:solidFill>
                  <a:schemeClr val="tx2"/>
                </a:solidFill>
                <a:latin typeface="Cambria" pitchFamily="34" charset="0"/>
                <a:ea typeface="Cambria" pitchFamily="34" charset="-122"/>
                <a:cs typeface="Cambria" pitchFamily="34" charset="-120"/>
              </a:rPr>
              <a:t>OE1</a:t>
            </a:r>
            <a:endParaRPr lang="en-US" sz="2600" dirty="0"/>
          </a:p>
        </p:txBody>
      </p:sp>
      <p:sp>
        <p:nvSpPr>
          <p:cNvPr id="6" name="texto OE1"/>
          <p:cNvSpPr txBox="1"/>
          <p:nvPr/>
        </p:nvSpPr>
        <p:spPr>
          <a:xfrm>
            <a:off x="777240" y="2121408"/>
            <a:ext cx="3108960" cy="1234440"/>
          </a:xfrm>
          <a:prstGeom prst="rect">
            <a:avLst/>
          </a:prstGeom>
          <a:noFill/>
          <a:ln/>
        </p:spPr>
        <p:txBody>
          <a:bodyPr wrap="square" lIns="0" tIns="0" rIns="0" bIns="0" rtlCol="0" anchor="t"/>
          <a:lstStyle/>
          <a:p>
            <a:pPr indent="0" marL="0">
              <a:spcAft>
                <a:spcPts val="400"/>
              </a:spcAft>
              <a:buNone/>
            </a:pPr>
            <a:r>
              <a:rPr lang="en-US" sz="1500" b="1" dirty="0">
                <a:solidFill>
                  <a:schemeClr val="tx1"/>
                </a:solidFill>
              </a:rPr>
              <a:t>Decisiones preventivas informadas</a:t>
            </a:r>
            <a:endParaRPr lang="en-US" sz="1500" dirty="0"/>
          </a:p>
          <a:p>
            <a:pPr indent="0" marL="0">
              <a:spcAft>
                <a:spcPts val="400"/>
              </a:spcAft>
              <a:buNone/>
            </a:pPr>
            <a:r>
              <a:rPr lang="en-US" sz="1400" dirty="0">
                <a:solidFill>
                  <a:schemeClr val="tx1"/>
                </a:solidFill>
              </a:rPr>
              <a:t>≥ 80 % interpreta antecedentes y rutas en 2 escenarios</a:t>
            </a:r>
            <a:endParaRPr lang="en-US" sz="1500" dirty="0"/>
          </a:p>
        </p:txBody>
      </p:sp>
      <p:sp>
        <p:nvSpPr>
          <p:cNvPr id="7" name="objetivo OE2"/>
          <p:cNvSpPr/>
          <p:nvPr/>
        </p:nvSpPr>
        <p:spPr>
          <a:xfrm>
            <a:off x="4297680" y="1371600"/>
            <a:ext cx="3520440" cy="2103120"/>
          </a:xfrm>
          <a:prstGeom prst="roundRect">
            <a:avLst>
              <a:gd name="adj" fmla="val 5217"/>
            </a:avLst>
          </a:prstGeom>
          <a:solidFill>
            <a:srgbClr val="EEF1F6"/>
          </a:solidFill>
          <a:ln w="9525">
            <a:solidFill>
              <a:srgbClr val="EEF1F6"/>
            </a:solidFill>
            <a:prstDash val="solid"/>
          </a:ln>
        </p:spPr>
      </p:sp>
      <p:sp>
        <p:nvSpPr>
          <p:cNvPr id="8" name="id OE2"/>
          <p:cNvSpPr txBox="1"/>
          <p:nvPr/>
        </p:nvSpPr>
        <p:spPr>
          <a:xfrm>
            <a:off x="4526280" y="1536192"/>
            <a:ext cx="1280160" cy="502920"/>
          </a:xfrm>
          <a:prstGeom prst="rect">
            <a:avLst/>
          </a:prstGeom>
          <a:noFill/>
          <a:ln/>
        </p:spPr>
        <p:txBody>
          <a:bodyPr wrap="square" lIns="0" tIns="0" rIns="0" bIns="0" rtlCol="0" anchor="ctr"/>
          <a:lstStyle/>
          <a:p>
            <a:pPr indent="0" marL="0">
              <a:buNone/>
            </a:pPr>
            <a:r>
              <a:rPr lang="en-US" sz="2600" b="1" dirty="0">
                <a:solidFill>
                  <a:schemeClr val="tx2"/>
                </a:solidFill>
                <a:latin typeface="Cambria" pitchFamily="34" charset="0"/>
                <a:ea typeface="Cambria" pitchFamily="34" charset="-122"/>
                <a:cs typeface="Cambria" pitchFamily="34" charset="-120"/>
              </a:rPr>
              <a:t>OE2</a:t>
            </a:r>
            <a:endParaRPr lang="en-US" sz="2600" dirty="0"/>
          </a:p>
        </p:txBody>
      </p:sp>
      <p:sp>
        <p:nvSpPr>
          <p:cNvPr id="9" name="texto OE2"/>
          <p:cNvSpPr txBox="1"/>
          <p:nvPr/>
        </p:nvSpPr>
        <p:spPr>
          <a:xfrm>
            <a:off x="4526280" y="2121408"/>
            <a:ext cx="3108960" cy="1234440"/>
          </a:xfrm>
          <a:prstGeom prst="rect">
            <a:avLst/>
          </a:prstGeom>
          <a:noFill/>
          <a:ln/>
        </p:spPr>
        <p:txBody>
          <a:bodyPr wrap="square" lIns="0" tIns="0" rIns="0" bIns="0" rtlCol="0" anchor="t"/>
          <a:lstStyle/>
          <a:p>
            <a:pPr indent="0" marL="0">
              <a:spcAft>
                <a:spcPts val="400"/>
              </a:spcAft>
              <a:buNone/>
            </a:pPr>
            <a:r>
              <a:rPr lang="en-US" sz="1500" b="1" dirty="0">
                <a:solidFill>
                  <a:schemeClr val="tx1"/>
                </a:solidFill>
              </a:rPr>
              <a:t>Coordinación más oportuna</a:t>
            </a:r>
            <a:endParaRPr lang="en-US" sz="1500" dirty="0"/>
          </a:p>
          <a:p>
            <a:pPr indent="0" marL="0">
              <a:spcAft>
                <a:spcPts val="400"/>
              </a:spcAft>
              <a:buNone/>
            </a:pPr>
            <a:r>
              <a:rPr lang="en-US" sz="1400" dirty="0">
                <a:solidFill>
                  <a:schemeClr val="tx1"/>
                </a:solidFill>
              </a:rPr>
              <a:t>−20 % en la mediana del tiempo para reunir antecedentes (12 pares)</a:t>
            </a:r>
            <a:endParaRPr lang="en-US" sz="1500" dirty="0"/>
          </a:p>
        </p:txBody>
      </p:sp>
      <p:sp>
        <p:nvSpPr>
          <p:cNvPr id="10" name="objetivo OE3"/>
          <p:cNvSpPr/>
          <p:nvPr/>
        </p:nvSpPr>
        <p:spPr>
          <a:xfrm>
            <a:off x="8046720" y="1371600"/>
            <a:ext cx="3520440" cy="2103120"/>
          </a:xfrm>
          <a:prstGeom prst="roundRect">
            <a:avLst>
              <a:gd name="adj" fmla="val 5217"/>
            </a:avLst>
          </a:prstGeom>
          <a:solidFill>
            <a:srgbClr val="EEF1F6"/>
          </a:solidFill>
          <a:ln w="9525">
            <a:solidFill>
              <a:srgbClr val="EEF1F6"/>
            </a:solidFill>
            <a:prstDash val="solid"/>
          </a:ln>
        </p:spPr>
      </p:sp>
      <p:sp>
        <p:nvSpPr>
          <p:cNvPr id="11" name="id OE3"/>
          <p:cNvSpPr txBox="1"/>
          <p:nvPr/>
        </p:nvSpPr>
        <p:spPr>
          <a:xfrm>
            <a:off x="8275320" y="1536192"/>
            <a:ext cx="1280160" cy="502920"/>
          </a:xfrm>
          <a:prstGeom prst="rect">
            <a:avLst/>
          </a:prstGeom>
          <a:noFill/>
          <a:ln/>
        </p:spPr>
        <p:txBody>
          <a:bodyPr wrap="square" lIns="0" tIns="0" rIns="0" bIns="0" rtlCol="0" anchor="ctr"/>
          <a:lstStyle/>
          <a:p>
            <a:pPr indent="0" marL="0">
              <a:buNone/>
            </a:pPr>
            <a:r>
              <a:rPr lang="en-US" sz="2600" b="1" dirty="0">
                <a:solidFill>
                  <a:schemeClr val="tx2"/>
                </a:solidFill>
                <a:latin typeface="Cambria" pitchFamily="34" charset="0"/>
                <a:ea typeface="Cambria" pitchFamily="34" charset="-122"/>
                <a:cs typeface="Cambria" pitchFamily="34" charset="-120"/>
              </a:rPr>
              <a:t>OE3</a:t>
            </a:r>
            <a:endParaRPr lang="en-US" sz="2600" dirty="0"/>
          </a:p>
        </p:txBody>
      </p:sp>
      <p:sp>
        <p:nvSpPr>
          <p:cNvPr id="12" name="texto OE3"/>
          <p:cNvSpPr txBox="1"/>
          <p:nvPr/>
        </p:nvSpPr>
        <p:spPr>
          <a:xfrm>
            <a:off x="8275320" y="2121408"/>
            <a:ext cx="3108960" cy="1234440"/>
          </a:xfrm>
          <a:prstGeom prst="rect">
            <a:avLst/>
          </a:prstGeom>
          <a:noFill/>
          <a:ln/>
        </p:spPr>
        <p:txBody>
          <a:bodyPr wrap="square" lIns="0" tIns="0" rIns="0" bIns="0" rtlCol="0" anchor="t"/>
          <a:lstStyle/>
          <a:p>
            <a:pPr indent="0" marL="0">
              <a:spcAft>
                <a:spcPts val="400"/>
              </a:spcAft>
              <a:buNone/>
            </a:pPr>
            <a:r>
              <a:rPr lang="en-US" sz="1500" b="1" dirty="0">
                <a:solidFill>
                  <a:schemeClr val="tx1"/>
                </a:solidFill>
              </a:rPr>
              <a:t>Colaboración útil y trazable</a:t>
            </a:r>
            <a:endParaRPr lang="en-US" sz="1500" dirty="0"/>
          </a:p>
          <a:p>
            <a:pPr indent="0" marL="0">
              <a:spcAft>
                <a:spcPts val="400"/>
              </a:spcAft>
              <a:buNone/>
            </a:pPr>
            <a:r>
              <a:rPr lang="en-US" sz="1400" dirty="0">
                <a:solidFill>
                  <a:schemeClr val="tx1"/>
                </a:solidFill>
              </a:rPr>
              <a:t>≥ 18 de 20 avistamientos útiles y revisados en ≤ 5 min</a:t>
            </a:r>
            <a:endParaRPr lang="en-US" sz="1500" dirty="0"/>
          </a:p>
        </p:txBody>
      </p:sp>
      <p:sp>
        <p:nvSpPr>
          <p:cNvPr id="13" name="objetivo OE4"/>
          <p:cNvSpPr/>
          <p:nvPr/>
        </p:nvSpPr>
        <p:spPr>
          <a:xfrm>
            <a:off x="548640" y="3703320"/>
            <a:ext cx="3520440" cy="2103120"/>
          </a:xfrm>
          <a:prstGeom prst="roundRect">
            <a:avLst>
              <a:gd name="adj" fmla="val 5217"/>
            </a:avLst>
          </a:prstGeom>
          <a:solidFill>
            <a:srgbClr val="EEF1F6"/>
          </a:solidFill>
          <a:ln w="9525">
            <a:solidFill>
              <a:srgbClr val="EEF1F6"/>
            </a:solidFill>
            <a:prstDash val="solid"/>
          </a:ln>
        </p:spPr>
      </p:sp>
      <p:sp>
        <p:nvSpPr>
          <p:cNvPr id="14" name="id OE4"/>
          <p:cNvSpPr txBox="1"/>
          <p:nvPr/>
        </p:nvSpPr>
        <p:spPr>
          <a:xfrm>
            <a:off x="777240" y="3867912"/>
            <a:ext cx="1280160" cy="502920"/>
          </a:xfrm>
          <a:prstGeom prst="rect">
            <a:avLst/>
          </a:prstGeom>
          <a:noFill/>
          <a:ln/>
        </p:spPr>
        <p:txBody>
          <a:bodyPr wrap="square" lIns="0" tIns="0" rIns="0" bIns="0" rtlCol="0" anchor="ctr"/>
          <a:lstStyle/>
          <a:p>
            <a:pPr indent="0" marL="0">
              <a:buNone/>
            </a:pPr>
            <a:r>
              <a:rPr lang="en-US" sz="2600" b="1" dirty="0">
                <a:solidFill>
                  <a:schemeClr val="tx2"/>
                </a:solidFill>
                <a:latin typeface="Cambria" pitchFamily="34" charset="0"/>
                <a:ea typeface="Cambria" pitchFamily="34" charset="-122"/>
                <a:cs typeface="Cambria" pitchFamily="34" charset="-120"/>
              </a:rPr>
              <a:t>OE4</a:t>
            </a:r>
            <a:endParaRPr lang="en-US" sz="2600" dirty="0"/>
          </a:p>
        </p:txBody>
      </p:sp>
      <p:sp>
        <p:nvSpPr>
          <p:cNvPr id="15" name="texto OE4"/>
          <p:cNvSpPr txBox="1"/>
          <p:nvPr/>
        </p:nvSpPr>
        <p:spPr>
          <a:xfrm>
            <a:off x="777240" y="4453128"/>
            <a:ext cx="3108960" cy="1234440"/>
          </a:xfrm>
          <a:prstGeom prst="rect">
            <a:avLst/>
          </a:prstGeom>
          <a:noFill/>
          <a:ln/>
        </p:spPr>
        <p:txBody>
          <a:bodyPr wrap="square" lIns="0" tIns="0" rIns="0" bIns="0" rtlCol="0" anchor="t"/>
          <a:lstStyle/>
          <a:p>
            <a:pPr indent="0" marL="0">
              <a:spcAft>
                <a:spcPts val="400"/>
              </a:spcAft>
              <a:buNone/>
            </a:pPr>
            <a:r>
              <a:rPr lang="en-US" sz="1500" b="1" dirty="0">
                <a:solidFill>
                  <a:schemeClr val="tx1"/>
                </a:solidFill>
              </a:rPr>
              <a:t>Autonomía del afectado</a:t>
            </a:r>
            <a:endParaRPr lang="en-US" sz="1500" dirty="0"/>
          </a:p>
          <a:p>
            <a:pPr indent="0" marL="0">
              <a:spcAft>
                <a:spcPts val="400"/>
              </a:spcAft>
              <a:buNone/>
            </a:pPr>
            <a:r>
              <a:rPr lang="en-US" sz="1400" dirty="0">
                <a:solidFill>
                  <a:schemeClr val="tx1"/>
                </a:solidFill>
              </a:rPr>
              <a:t>≥ 80 % completa seguimiento, apoyo y contacto en ≤ 3 min</a:t>
            </a:r>
            <a:endParaRPr lang="en-US" sz="1500" dirty="0"/>
          </a:p>
        </p:txBody>
      </p:sp>
      <p:sp>
        <p:nvSpPr>
          <p:cNvPr id="16" name="objetivo OE5"/>
          <p:cNvSpPr/>
          <p:nvPr/>
        </p:nvSpPr>
        <p:spPr>
          <a:xfrm>
            <a:off x="4297680" y="3703320"/>
            <a:ext cx="3520440" cy="2103120"/>
          </a:xfrm>
          <a:prstGeom prst="roundRect">
            <a:avLst>
              <a:gd name="adj" fmla="val 5217"/>
            </a:avLst>
          </a:prstGeom>
          <a:solidFill>
            <a:srgbClr val="FFFFFF"/>
          </a:solidFill>
          <a:ln w="19050">
            <a:solidFill>
              <a:srgbClr val="B7791F"/>
            </a:solidFill>
            <a:prstDash val="dash"/>
          </a:ln>
        </p:spPr>
      </p:sp>
      <p:sp>
        <p:nvSpPr>
          <p:cNvPr id="17" name="id OE5"/>
          <p:cNvSpPr txBox="1"/>
          <p:nvPr/>
        </p:nvSpPr>
        <p:spPr>
          <a:xfrm>
            <a:off x="4526280" y="3867912"/>
            <a:ext cx="1280160" cy="502920"/>
          </a:xfrm>
          <a:prstGeom prst="rect">
            <a:avLst/>
          </a:prstGeom>
          <a:noFill/>
          <a:ln/>
        </p:spPr>
        <p:txBody>
          <a:bodyPr wrap="square" lIns="0" tIns="0" rIns="0" bIns="0" rtlCol="0" anchor="ctr"/>
          <a:lstStyle/>
          <a:p>
            <a:pPr indent="0" marL="0">
              <a:buNone/>
            </a:pPr>
            <a:r>
              <a:rPr lang="en-US" sz="2600" b="1" dirty="0">
                <a:solidFill>
                  <a:schemeClr val="accent5"/>
                </a:solidFill>
                <a:latin typeface="Cambria" pitchFamily="34" charset="0"/>
                <a:ea typeface="Cambria" pitchFamily="34" charset="-122"/>
                <a:cs typeface="Cambria" pitchFamily="34" charset="-120"/>
              </a:rPr>
              <a:t>OE5</a:t>
            </a:r>
            <a:endParaRPr lang="en-US" sz="2600" dirty="0"/>
          </a:p>
        </p:txBody>
      </p:sp>
      <p:sp>
        <p:nvSpPr>
          <p:cNvPr id="18" name="estado OE5"/>
          <p:cNvSpPr txBox="1"/>
          <p:nvPr/>
        </p:nvSpPr>
        <p:spPr>
          <a:xfrm>
            <a:off x="6126480" y="3950208"/>
            <a:ext cx="1463040" cy="292608"/>
          </a:xfrm>
          <a:prstGeom prst="roundRect">
            <a:avLst>
              <a:gd name="adj" fmla="val 50000"/>
            </a:avLst>
          </a:prstGeom>
          <a:solidFill>
            <a:srgbClr val="B7791F"/>
          </a:solidFill>
          <a:ln/>
        </p:spPr>
        <p:txBody>
          <a:bodyPr wrap="square" lIns="0" tIns="0" rIns="0" bIns="0" rtlCol="0" anchor="ctr"/>
          <a:lstStyle/>
          <a:p>
            <a:pPr algn="ctr" indent="0" marL="0">
              <a:buNone/>
            </a:pPr>
            <a:r>
              <a:rPr lang="en-US" sz="1100" b="1" dirty="0">
                <a:solidFill>
                  <a:srgbClr val="FFFFFF"/>
                </a:solidFill>
              </a:rPr>
              <a:t>propuesto</a:t>
            </a:r>
            <a:endParaRPr lang="en-US" sz="1100" dirty="0"/>
          </a:p>
        </p:txBody>
      </p:sp>
      <p:sp>
        <p:nvSpPr>
          <p:cNvPr id="19" name="texto OE5"/>
          <p:cNvSpPr txBox="1"/>
          <p:nvPr/>
        </p:nvSpPr>
        <p:spPr>
          <a:xfrm>
            <a:off x="4526280" y="4453128"/>
            <a:ext cx="3108960" cy="1234440"/>
          </a:xfrm>
          <a:prstGeom prst="rect">
            <a:avLst/>
          </a:prstGeom>
          <a:noFill/>
          <a:ln/>
        </p:spPr>
        <p:txBody>
          <a:bodyPr wrap="square" lIns="0" tIns="0" rIns="0" bIns="0" rtlCol="0" anchor="t"/>
          <a:lstStyle/>
          <a:p>
            <a:pPr indent="0" marL="0">
              <a:spcAft>
                <a:spcPts val="400"/>
              </a:spcAft>
              <a:buNone/>
            </a:pPr>
            <a:r>
              <a:rPr lang="en-US" sz="1500" b="1" dirty="0">
                <a:solidFill>
                  <a:schemeClr val="tx1"/>
                </a:solidFill>
              </a:rPr>
              <a:t>Búsqueda de evidencia eficiente</a:t>
            </a:r>
            <a:endParaRPr lang="en-US" sz="1500" dirty="0"/>
          </a:p>
          <a:p>
            <a:pPr indent="0" marL="0">
              <a:spcAft>
                <a:spcPts val="400"/>
              </a:spcAft>
              <a:buNone/>
            </a:pPr>
            <a:r>
              <a:rPr lang="en-US" sz="1400" dirty="0">
                <a:solidFill>
                  <a:schemeClr val="tx1"/>
                </a:solidFill>
              </a:rPr>
              <a:t>−20 % en el tiempo hasta una observación correcta</a:t>
            </a:r>
            <a:endParaRPr lang="en-US" sz="1500" dirty="0"/>
          </a:p>
        </p:txBody>
      </p:sp>
      <p:sp>
        <p:nvSpPr>
          <p:cNvPr id="20" name="objetivo OE6"/>
          <p:cNvSpPr/>
          <p:nvPr/>
        </p:nvSpPr>
        <p:spPr>
          <a:xfrm>
            <a:off x="8046720" y="3703320"/>
            <a:ext cx="3520440" cy="2103120"/>
          </a:xfrm>
          <a:prstGeom prst="roundRect">
            <a:avLst>
              <a:gd name="adj" fmla="val 5217"/>
            </a:avLst>
          </a:prstGeom>
          <a:solidFill>
            <a:srgbClr val="FFFFFF"/>
          </a:solidFill>
          <a:ln w="19050">
            <a:solidFill>
              <a:srgbClr val="B7791F"/>
            </a:solidFill>
            <a:prstDash val="dash"/>
          </a:ln>
        </p:spPr>
      </p:sp>
      <p:sp>
        <p:nvSpPr>
          <p:cNvPr id="21" name="id OE6"/>
          <p:cNvSpPr txBox="1"/>
          <p:nvPr/>
        </p:nvSpPr>
        <p:spPr>
          <a:xfrm>
            <a:off x="8275320" y="3867912"/>
            <a:ext cx="1280160" cy="502920"/>
          </a:xfrm>
          <a:prstGeom prst="rect">
            <a:avLst/>
          </a:prstGeom>
          <a:noFill/>
          <a:ln/>
        </p:spPr>
        <p:txBody>
          <a:bodyPr wrap="square" lIns="0" tIns="0" rIns="0" bIns="0" rtlCol="0" anchor="ctr"/>
          <a:lstStyle/>
          <a:p>
            <a:pPr indent="0" marL="0">
              <a:buNone/>
            </a:pPr>
            <a:r>
              <a:rPr lang="en-US" sz="2600" b="1" dirty="0">
                <a:solidFill>
                  <a:schemeClr val="accent5"/>
                </a:solidFill>
                <a:latin typeface="Cambria" pitchFamily="34" charset="0"/>
                <a:ea typeface="Cambria" pitchFamily="34" charset="-122"/>
                <a:cs typeface="Cambria" pitchFamily="34" charset="-120"/>
              </a:rPr>
              <a:t>OE6</a:t>
            </a:r>
            <a:endParaRPr lang="en-US" sz="2600" dirty="0"/>
          </a:p>
        </p:txBody>
      </p:sp>
      <p:sp>
        <p:nvSpPr>
          <p:cNvPr id="22" name="estado OE6"/>
          <p:cNvSpPr txBox="1"/>
          <p:nvPr/>
        </p:nvSpPr>
        <p:spPr>
          <a:xfrm>
            <a:off x="9875520" y="3950208"/>
            <a:ext cx="1463040" cy="292608"/>
          </a:xfrm>
          <a:prstGeom prst="roundRect">
            <a:avLst>
              <a:gd name="adj" fmla="val 50000"/>
            </a:avLst>
          </a:prstGeom>
          <a:solidFill>
            <a:srgbClr val="B7791F"/>
          </a:solidFill>
          <a:ln/>
        </p:spPr>
        <p:txBody>
          <a:bodyPr wrap="square" lIns="0" tIns="0" rIns="0" bIns="0" rtlCol="0" anchor="ctr"/>
          <a:lstStyle/>
          <a:p>
            <a:pPr algn="ctr" indent="0" marL="0">
              <a:buNone/>
            </a:pPr>
            <a:r>
              <a:rPr lang="en-US" sz="1100" b="1" dirty="0">
                <a:solidFill>
                  <a:srgbClr val="FFFFFF"/>
                </a:solidFill>
              </a:rPr>
              <a:t>propuesto</a:t>
            </a:r>
            <a:endParaRPr lang="en-US" sz="1100" dirty="0"/>
          </a:p>
        </p:txBody>
      </p:sp>
      <p:sp>
        <p:nvSpPr>
          <p:cNvPr id="23" name="texto OE6"/>
          <p:cNvSpPr txBox="1"/>
          <p:nvPr/>
        </p:nvSpPr>
        <p:spPr>
          <a:xfrm>
            <a:off x="8275320" y="4453128"/>
            <a:ext cx="3108960" cy="1234440"/>
          </a:xfrm>
          <a:prstGeom prst="rect">
            <a:avLst/>
          </a:prstGeom>
          <a:noFill/>
          <a:ln/>
        </p:spPr>
        <p:txBody>
          <a:bodyPr wrap="square" lIns="0" tIns="0" rIns="0" bIns="0" rtlCol="0" anchor="t"/>
          <a:lstStyle/>
          <a:p>
            <a:pPr indent="0" marL="0">
              <a:spcAft>
                <a:spcPts val="400"/>
              </a:spcAft>
              <a:buNone/>
            </a:pPr>
            <a:r>
              <a:rPr lang="en-US" sz="1500" b="1" dirty="0">
                <a:solidFill>
                  <a:schemeClr val="tx1"/>
                </a:solidFill>
              </a:rPr>
              <a:t>Interpretación de indicadores</a:t>
            </a:r>
            <a:endParaRPr lang="en-US" sz="1500" dirty="0"/>
          </a:p>
          <a:p>
            <a:pPr indent="0" marL="0">
              <a:spcAft>
                <a:spcPts val="400"/>
              </a:spcAft>
              <a:buNone/>
            </a:pPr>
            <a:r>
              <a:rPr lang="en-US" sz="1400" dirty="0">
                <a:solidFill>
                  <a:schemeClr val="tx1"/>
                </a:solidFill>
              </a:rPr>
              <a:t>≥ 10 de 12 tareas correctas en ≤ 3 min</a:t>
            </a:r>
            <a:endParaRPr lang="en-US" sz="1500" dirty="0"/>
          </a:p>
        </p:txBody>
      </p:sp>
      <p:sp>
        <p:nvSpPr>
          <p:cNvPr id="24" name="nota objetivos"/>
          <p:cNvSpPr txBox="1"/>
          <p:nvPr/>
        </p:nvSpPr>
        <p:spPr>
          <a:xfrm>
            <a:off x="548640" y="6035040"/>
            <a:ext cx="11064240" cy="292608"/>
          </a:xfrm>
          <a:prstGeom prst="rect">
            <a:avLst/>
          </a:prstGeom>
          <a:noFill/>
          <a:ln/>
        </p:spPr>
        <p:txBody>
          <a:bodyPr wrap="square" lIns="0" tIns="0" rIns="0" bIns="0" rtlCol="0" anchor="ctr"/>
          <a:lstStyle/>
          <a:p>
            <a:pPr indent="0" marL="0">
              <a:buNone/>
            </a:pPr>
            <a:r>
              <a:rPr lang="en-US" sz="1200" i="1" dirty="0">
                <a:solidFill>
                  <a:schemeClr val="accent4"/>
                </a:solidFill>
              </a:rPr>
              <a:t>Metas del piloto, no resultados obtenidos. Un objetivo mide el efecto del uso; una pantalla o una tabla son requisitos.</a:t>
            </a:r>
            <a:endParaRPr lang="en-US" sz="1200" dirty="0"/>
          </a:p>
        </p:txBody>
      </p:sp>
      <p:sp>
        <p:nvSpPr>
          <p:cNvPr id="25" name="Slide Number Placeholder 0"/>
          <p:cNvSpPr>
            <a:spLocks noGrp="1"/>
          </p:cNvSpPr>
          <p:nvPr>
            <p:ph type="sldNum" sz="quarter" idx="4294967295"/>
          </p:nvPr>
        </p:nvSpPr>
        <p:spPr>
          <a:xfrm>
            <a:off x="1124712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l"/>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ph idx="100" type="title" hasCustomPrompt="1"/>
          </p:nvPr>
        </p:nvSpPr>
        <p:spPr>
          <a:xfrm>
            <a:off x="548640" y="274320"/>
            <a:ext cx="9326880" cy="868680"/>
          </a:xfrm>
          <a:prstGeom prst="rect">
            <a:avLst/>
          </a:prstGeom>
          <a:noFill/>
          <a:ln/>
        </p:spPr>
        <p:txBody>
          <a:bodyPr wrap="square" lIns="0" tIns="0" rIns="0" bIns="0" rtlCol="0" anchor="ctr"/>
          <a:lstStyle/>
          <a:p>
            <a:pPr algn="l" indent="0" marL="0">
              <a:buNone/>
            </a:pPr>
            <a:r>
              <a:rPr lang="en-US" sz="2800" b="1" dirty="0">
                <a:solidFill>
                  <a:schemeClr val="tx2"/>
                </a:solidFill>
                <a:latin typeface="Cambria" pitchFamily="34" charset="0"/>
                <a:ea typeface="Cambria" pitchFamily="34" charset="-122"/>
                <a:cs typeface="Cambria" pitchFamily="34" charset="-120"/>
              </a:rPr>
              <a:t>Base de datos verificada y API inicial probada</a:t>
            </a:r>
            <a:endParaRPr lang="en-US" sz="2800" dirty="0"/>
          </a:p>
        </p:txBody>
      </p:sp>
      <p:sp>
        <p:nvSpPr>
          <p:cNvPr id="3" name="Text 0"/>
          <p:cNvSpPr/>
          <p:nvPr>
            <p:ph idx="101" type="body" hasCustomPrompt="1"/>
          </p:nvPr>
        </p:nvSpPr>
        <p:spPr>
          <a:xfrm>
            <a:off x="9966960" y="411480"/>
            <a:ext cx="1691640" cy="384048"/>
          </a:xfrm>
          <a:prstGeom prst="rect">
            <a:avLst/>
          </a:prstGeom>
          <a:solidFill>
            <a:schemeClr val="bg2"/>
          </a:solidFill>
          <a:ln/>
        </p:spPr>
        <p:txBody>
          <a:bodyPr wrap="square" lIns="0" tIns="0" rIns="0" bIns="0" rtlCol="0" anchor="ctr"/>
          <a:lstStyle/>
          <a:p>
            <a:pPr algn="ctr" indent="0" marL="0">
              <a:buNone/>
            </a:pPr>
            <a:r>
              <a:rPr lang="en-US" sz="1200" dirty="0">
                <a:solidFill>
                  <a:schemeClr val="tx2"/>
                </a:solidFill>
              </a:rPr>
              <a:t>Alan</a:t>
            </a:r>
            <a:endParaRPr lang="en-US" sz="1200" dirty="0"/>
          </a:p>
        </p:txBody>
      </p:sp>
      <p:pic>
        <p:nvPicPr>
          <p:cNvPr id="4" name="diagrama arquitectura" descr="Arquitectura de RutaAlerta con el estado de cada componente">    </p:cNvPr>
          <p:cNvPicPr>
            <a:picLocks noChangeAspect="1"/>
          </p:cNvPicPr>
          <p:nvPr/>
        </p:nvPicPr>
        <p:blipFill>
          <a:blip r:embed="rId1"/>
          <a:stretch>
            <a:fillRect/>
          </a:stretch>
        </p:blipFill>
        <p:spPr>
          <a:xfrm>
            <a:off x="548640" y="1280160"/>
            <a:ext cx="7589520" cy="4827939"/>
          </a:xfrm>
          <a:prstGeom prst="rect">
            <a:avLst/>
          </a:prstGeom>
        </p:spPr>
      </p:pic>
      <p:sp>
        <p:nvSpPr>
          <p:cNvPr id="5" name="estado Verificado"/>
          <p:cNvSpPr txBox="1"/>
          <p:nvPr/>
        </p:nvSpPr>
        <p:spPr>
          <a:xfrm>
            <a:off x="8503920" y="1463040"/>
            <a:ext cx="1463040" cy="292608"/>
          </a:xfrm>
          <a:prstGeom prst="roundRect">
            <a:avLst>
              <a:gd name="adj" fmla="val 50000"/>
            </a:avLst>
          </a:prstGeom>
          <a:solidFill>
            <a:srgbClr val="2F855A"/>
          </a:solidFill>
          <a:ln/>
        </p:spPr>
        <p:txBody>
          <a:bodyPr wrap="square" lIns="0" tIns="0" rIns="0" bIns="0" rtlCol="0" anchor="ctr"/>
          <a:lstStyle/>
          <a:p>
            <a:pPr algn="ctr" indent="0" marL="0">
              <a:buNone/>
            </a:pPr>
            <a:r>
              <a:rPr lang="en-US" sz="1100" b="1" dirty="0">
                <a:solidFill>
                  <a:srgbClr val="FFFFFF"/>
                </a:solidFill>
              </a:rPr>
              <a:t>Verificado</a:t>
            </a:r>
            <a:endParaRPr lang="en-US" sz="1100" dirty="0"/>
          </a:p>
        </p:txBody>
      </p:sp>
      <p:sp>
        <p:nvSpPr>
          <p:cNvPr id="6" name="detalle Verificado"/>
          <p:cNvSpPr txBox="1"/>
          <p:nvPr/>
        </p:nvSpPr>
        <p:spPr>
          <a:xfrm>
            <a:off x="8503920" y="1847088"/>
            <a:ext cx="3108960" cy="914400"/>
          </a:xfrm>
          <a:prstGeom prst="rect">
            <a:avLst/>
          </a:prstGeom>
          <a:noFill/>
          <a:ln/>
        </p:spPr>
        <p:txBody>
          <a:bodyPr wrap="square" lIns="0" tIns="0" rIns="0" bIns="0" rtlCol="0" anchor="t"/>
          <a:lstStyle/>
          <a:p>
            <a:pPr indent="0" marL="0">
              <a:buNone/>
            </a:pPr>
            <a:r>
              <a:rPr lang="en-US" sz="1500" dirty="0">
                <a:solidFill>
                  <a:schemeClr val="tx1"/>
                </a:solidFill>
              </a:rPr>
              <a:t>PostGIS: 56 tablas y 36 pruebas · API inicial: 10 pruebas</a:t>
            </a:r>
            <a:endParaRPr lang="en-US" sz="1500" dirty="0"/>
          </a:p>
        </p:txBody>
      </p:sp>
      <p:sp>
        <p:nvSpPr>
          <p:cNvPr id="7" name="estado Diseñado"/>
          <p:cNvSpPr txBox="1"/>
          <p:nvPr/>
        </p:nvSpPr>
        <p:spPr>
          <a:xfrm>
            <a:off x="8503920" y="2971800"/>
            <a:ext cx="1463040" cy="292608"/>
          </a:xfrm>
          <a:prstGeom prst="roundRect">
            <a:avLst>
              <a:gd name="adj" fmla="val 50000"/>
            </a:avLst>
          </a:prstGeom>
          <a:solidFill>
            <a:srgbClr val="2B6CB0"/>
          </a:solidFill>
          <a:ln/>
        </p:spPr>
        <p:txBody>
          <a:bodyPr wrap="square" lIns="0" tIns="0" rIns="0" bIns="0" rtlCol="0" anchor="ctr"/>
          <a:lstStyle/>
          <a:p>
            <a:pPr algn="ctr" indent="0" marL="0">
              <a:buNone/>
            </a:pPr>
            <a:r>
              <a:rPr lang="en-US" sz="1100" b="1" dirty="0">
                <a:solidFill>
                  <a:srgbClr val="FFFFFF"/>
                </a:solidFill>
              </a:rPr>
              <a:t>Diseñado</a:t>
            </a:r>
            <a:endParaRPr lang="en-US" sz="1100" dirty="0"/>
          </a:p>
        </p:txBody>
      </p:sp>
      <p:sp>
        <p:nvSpPr>
          <p:cNvPr id="8" name="detalle Diseñado"/>
          <p:cNvSpPr txBox="1"/>
          <p:nvPr/>
        </p:nvSpPr>
        <p:spPr>
          <a:xfrm>
            <a:off x="8503920" y="3355848"/>
            <a:ext cx="3108960" cy="914400"/>
          </a:xfrm>
          <a:prstGeom prst="rect">
            <a:avLst/>
          </a:prstGeom>
          <a:noFill/>
          <a:ln/>
        </p:spPr>
        <p:txBody>
          <a:bodyPr wrap="square" lIns="0" tIns="0" rIns="0" bIns="0" rtlCol="0" anchor="t"/>
          <a:lstStyle/>
          <a:p>
            <a:pPr indent="0" marL="0">
              <a:buNone/>
            </a:pPr>
            <a:r>
              <a:rPr lang="en-US" sz="1500" dirty="0">
                <a:solidFill>
                  <a:schemeClr val="tx1"/>
                </a:solidFill>
              </a:rPr>
              <a:t>Contratos de la API, conectores de video, rutas e IA</a:t>
            </a:r>
            <a:endParaRPr lang="en-US" sz="1500" dirty="0"/>
          </a:p>
        </p:txBody>
      </p:sp>
      <p:sp>
        <p:nvSpPr>
          <p:cNvPr id="9" name="estado Pendiente"/>
          <p:cNvSpPr txBox="1"/>
          <p:nvPr/>
        </p:nvSpPr>
        <p:spPr>
          <a:xfrm>
            <a:off x="8503920" y="4480560"/>
            <a:ext cx="1463040" cy="292608"/>
          </a:xfrm>
          <a:prstGeom prst="roundRect">
            <a:avLst>
              <a:gd name="adj" fmla="val 50000"/>
            </a:avLst>
          </a:prstGeom>
          <a:solidFill>
            <a:srgbClr val="6B7280"/>
          </a:solidFill>
          <a:ln/>
        </p:spPr>
        <p:txBody>
          <a:bodyPr wrap="square" lIns="0" tIns="0" rIns="0" bIns="0" rtlCol="0" anchor="ctr"/>
          <a:lstStyle/>
          <a:p>
            <a:pPr algn="ctr" indent="0" marL="0">
              <a:buNone/>
            </a:pPr>
            <a:r>
              <a:rPr lang="en-US" sz="1100" b="1" dirty="0">
                <a:solidFill>
                  <a:srgbClr val="FFFFFF"/>
                </a:solidFill>
              </a:rPr>
              <a:t>Pendiente</a:t>
            </a:r>
            <a:endParaRPr lang="en-US" sz="1100" dirty="0"/>
          </a:p>
        </p:txBody>
      </p:sp>
      <p:sp>
        <p:nvSpPr>
          <p:cNvPr id="10" name="detalle Pendiente"/>
          <p:cNvSpPr txBox="1"/>
          <p:nvPr/>
        </p:nvSpPr>
        <p:spPr>
          <a:xfrm>
            <a:off x="8503920" y="4864608"/>
            <a:ext cx="3108960" cy="914400"/>
          </a:xfrm>
          <a:prstGeom prst="rect">
            <a:avLst/>
          </a:prstGeom>
          <a:noFill/>
          <a:ln/>
        </p:spPr>
        <p:txBody>
          <a:bodyPr wrap="square" lIns="0" tIns="0" rIns="0" bIns="0" rtlCol="0" anchor="t"/>
          <a:lstStyle/>
          <a:p>
            <a:pPr indent="0" marL="0">
              <a:buNone/>
            </a:pPr>
            <a:r>
              <a:rPr lang="en-US" sz="1500" dirty="0">
                <a:solidFill>
                  <a:schemeClr val="tx1"/>
                </a:solidFill>
              </a:rPr>
              <a:t>App Flutter, panel React y despliegue en Azure</a:t>
            </a:r>
            <a:endParaRPr lang="en-US" sz="1500" dirty="0"/>
          </a:p>
        </p:txBody>
      </p:sp>
      <p:sp>
        <p:nvSpPr>
          <p:cNvPr id="25" name="Slide Number Placeholder 0"/>
          <p:cNvSpPr>
            <a:spLocks noGrp="1"/>
          </p:cNvSpPr>
          <p:nvPr>
            <p:ph type="sldNum" sz="quarter" idx="4294967295"/>
          </p:nvPr>
        </p:nvSpPr>
        <p:spPr>
          <a:xfrm>
            <a:off x="1124712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l"/>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ph idx="100" type="title" hasCustomPrompt="1"/>
          </p:nvPr>
        </p:nvSpPr>
        <p:spPr>
          <a:xfrm>
            <a:off x="548640" y="274320"/>
            <a:ext cx="9326880" cy="868680"/>
          </a:xfrm>
          <a:prstGeom prst="rect">
            <a:avLst/>
          </a:prstGeom>
          <a:noFill/>
          <a:ln/>
        </p:spPr>
        <p:txBody>
          <a:bodyPr wrap="square" lIns="0" tIns="0" rIns="0" bIns="0" rtlCol="0" anchor="ctr"/>
          <a:lstStyle/>
          <a:p>
            <a:pPr algn="l" indent="0" marL="0">
              <a:buNone/>
            </a:pPr>
            <a:r>
              <a:rPr lang="en-US" sz="2800" b="1" dirty="0">
                <a:solidFill>
                  <a:schemeClr val="tx2"/>
                </a:solidFill>
                <a:latin typeface="Cambria" pitchFamily="34" charset="0"/>
                <a:ea typeface="Cambria" pitchFamily="34" charset="-122"/>
                <a:cs typeface="Cambria" pitchFamily="34" charset="-120"/>
              </a:rPr>
              <a:t>Modelo de datos implementado y probado</a:t>
            </a:r>
            <a:endParaRPr lang="en-US" sz="2800" dirty="0"/>
          </a:p>
        </p:txBody>
      </p:sp>
      <p:sp>
        <p:nvSpPr>
          <p:cNvPr id="3" name="Text 0"/>
          <p:cNvSpPr/>
          <p:nvPr>
            <p:ph idx="101" type="body" hasCustomPrompt="1"/>
          </p:nvPr>
        </p:nvSpPr>
        <p:spPr>
          <a:xfrm>
            <a:off x="9966960" y="411480"/>
            <a:ext cx="1691640" cy="384048"/>
          </a:xfrm>
          <a:prstGeom prst="rect">
            <a:avLst/>
          </a:prstGeom>
          <a:solidFill>
            <a:schemeClr val="bg2"/>
          </a:solidFill>
          <a:ln/>
        </p:spPr>
        <p:txBody>
          <a:bodyPr wrap="square" lIns="0" tIns="0" rIns="0" bIns="0" rtlCol="0" anchor="ctr"/>
          <a:lstStyle/>
          <a:p>
            <a:pPr algn="ctr" indent="0" marL="0">
              <a:buNone/>
            </a:pPr>
            <a:r>
              <a:rPr lang="en-US" sz="1200" dirty="0">
                <a:solidFill>
                  <a:schemeClr val="tx2"/>
                </a:solidFill>
              </a:rPr>
              <a:t>Alan</a:t>
            </a:r>
            <a:endParaRPr lang="en-US" sz="1200" dirty="0"/>
          </a:p>
        </p:txBody>
      </p:sp>
      <p:sp>
        <p:nvSpPr>
          <p:cNvPr id="4" name="cifra 0"/>
          <p:cNvSpPr/>
          <p:nvPr/>
        </p:nvSpPr>
        <p:spPr>
          <a:xfrm>
            <a:off x="548640" y="1325880"/>
            <a:ext cx="2606040" cy="1783080"/>
          </a:xfrm>
          <a:prstGeom prst="roundRect">
            <a:avLst>
              <a:gd name="adj" fmla="val 6154"/>
            </a:avLst>
          </a:prstGeom>
          <a:solidFill>
            <a:srgbClr val="EEF1F6"/>
          </a:solidFill>
          <a:ln w="9525">
            <a:solidFill>
              <a:srgbClr val="EEF1F6"/>
            </a:solidFill>
            <a:prstDash val="solid"/>
          </a:ln>
        </p:spPr>
      </p:sp>
      <p:sp>
        <p:nvSpPr>
          <p:cNvPr id="5" name="cifra valor 0"/>
          <p:cNvSpPr txBox="1"/>
          <p:nvPr/>
        </p:nvSpPr>
        <p:spPr>
          <a:xfrm>
            <a:off x="548640" y="1417320"/>
            <a:ext cx="2606040" cy="1005840"/>
          </a:xfrm>
          <a:prstGeom prst="rect">
            <a:avLst/>
          </a:prstGeom>
          <a:noFill/>
          <a:ln/>
        </p:spPr>
        <p:txBody>
          <a:bodyPr wrap="square" lIns="0" tIns="0" rIns="0" bIns="0" rtlCol="0" anchor="ctr"/>
          <a:lstStyle/>
          <a:p>
            <a:pPr algn="ctr" indent="0" marL="0">
              <a:buNone/>
            </a:pPr>
            <a:r>
              <a:rPr lang="en-US" sz="4800" b="1" dirty="0">
                <a:solidFill>
                  <a:schemeClr val="tx2"/>
                </a:solidFill>
                <a:latin typeface="Cambria" pitchFamily="34" charset="0"/>
                <a:ea typeface="Cambria" pitchFamily="34" charset="-122"/>
                <a:cs typeface="Cambria" pitchFamily="34" charset="-120"/>
              </a:rPr>
              <a:t>56</a:t>
            </a:r>
            <a:endParaRPr lang="en-US" sz="4800" dirty="0"/>
          </a:p>
        </p:txBody>
      </p:sp>
      <p:sp>
        <p:nvSpPr>
          <p:cNvPr id="6" name="cifra texto 0"/>
          <p:cNvSpPr txBox="1"/>
          <p:nvPr/>
        </p:nvSpPr>
        <p:spPr>
          <a:xfrm>
            <a:off x="548640" y="2468880"/>
            <a:ext cx="2606040" cy="457200"/>
          </a:xfrm>
          <a:prstGeom prst="rect">
            <a:avLst/>
          </a:prstGeom>
          <a:noFill/>
          <a:ln/>
        </p:spPr>
        <p:txBody>
          <a:bodyPr wrap="square" lIns="0" tIns="0" rIns="0" bIns="0" rtlCol="0" anchor="ctr"/>
          <a:lstStyle/>
          <a:p>
            <a:pPr algn="ctr" indent="0" marL="0">
              <a:buNone/>
            </a:pPr>
            <a:r>
              <a:rPr lang="en-US" sz="1400" dirty="0">
                <a:solidFill>
                  <a:schemeClr val="tx1"/>
                </a:solidFill>
              </a:rPr>
              <a:t>tablas en 8 módulos</a:t>
            </a:r>
            <a:endParaRPr lang="en-US" sz="1400" dirty="0"/>
          </a:p>
        </p:txBody>
      </p:sp>
      <p:sp>
        <p:nvSpPr>
          <p:cNvPr id="7" name="cifra 1"/>
          <p:cNvSpPr/>
          <p:nvPr/>
        </p:nvSpPr>
        <p:spPr>
          <a:xfrm>
            <a:off x="3383280" y="1325880"/>
            <a:ext cx="2606040" cy="1783080"/>
          </a:xfrm>
          <a:prstGeom prst="roundRect">
            <a:avLst>
              <a:gd name="adj" fmla="val 6154"/>
            </a:avLst>
          </a:prstGeom>
          <a:solidFill>
            <a:srgbClr val="EEF1F6"/>
          </a:solidFill>
          <a:ln w="9525">
            <a:solidFill>
              <a:srgbClr val="EEF1F6"/>
            </a:solidFill>
            <a:prstDash val="solid"/>
          </a:ln>
        </p:spPr>
      </p:sp>
      <p:sp>
        <p:nvSpPr>
          <p:cNvPr id="8" name="cifra valor 1"/>
          <p:cNvSpPr txBox="1"/>
          <p:nvPr/>
        </p:nvSpPr>
        <p:spPr>
          <a:xfrm>
            <a:off x="3383280" y="1417320"/>
            <a:ext cx="2606040" cy="1005840"/>
          </a:xfrm>
          <a:prstGeom prst="rect">
            <a:avLst/>
          </a:prstGeom>
          <a:noFill/>
          <a:ln/>
        </p:spPr>
        <p:txBody>
          <a:bodyPr wrap="square" lIns="0" tIns="0" rIns="0" bIns="0" rtlCol="0" anchor="ctr"/>
          <a:lstStyle/>
          <a:p>
            <a:pPr algn="ctr" indent="0" marL="0">
              <a:buNone/>
            </a:pPr>
            <a:r>
              <a:rPr lang="en-US" sz="4800" b="1" dirty="0">
                <a:solidFill>
                  <a:schemeClr val="tx2"/>
                </a:solidFill>
                <a:latin typeface="Cambria" pitchFamily="34" charset="0"/>
                <a:ea typeface="Cambria" pitchFamily="34" charset="-122"/>
                <a:cs typeface="Cambria" pitchFamily="34" charset="-120"/>
              </a:rPr>
              <a:t>110</a:t>
            </a:r>
            <a:endParaRPr lang="en-US" sz="4800" dirty="0"/>
          </a:p>
        </p:txBody>
      </p:sp>
      <p:sp>
        <p:nvSpPr>
          <p:cNvPr id="9" name="cifra texto 1"/>
          <p:cNvSpPr txBox="1"/>
          <p:nvPr/>
        </p:nvSpPr>
        <p:spPr>
          <a:xfrm>
            <a:off x="3383280" y="2468880"/>
            <a:ext cx="2606040" cy="457200"/>
          </a:xfrm>
          <a:prstGeom prst="rect">
            <a:avLst/>
          </a:prstGeom>
          <a:noFill/>
          <a:ln/>
        </p:spPr>
        <p:txBody>
          <a:bodyPr wrap="square" lIns="0" tIns="0" rIns="0" bIns="0" rtlCol="0" anchor="ctr"/>
          <a:lstStyle/>
          <a:p>
            <a:pPr algn="ctr" indent="0" marL="0">
              <a:buNone/>
            </a:pPr>
            <a:r>
              <a:rPr lang="en-US" sz="1400" dirty="0">
                <a:solidFill>
                  <a:schemeClr val="tx1"/>
                </a:solidFill>
              </a:rPr>
              <a:t>claves foráneas</a:t>
            </a:r>
            <a:endParaRPr lang="en-US" sz="1400" dirty="0"/>
          </a:p>
        </p:txBody>
      </p:sp>
      <p:sp>
        <p:nvSpPr>
          <p:cNvPr id="10" name="cifra 2"/>
          <p:cNvSpPr/>
          <p:nvPr/>
        </p:nvSpPr>
        <p:spPr>
          <a:xfrm>
            <a:off x="6217920" y="1325880"/>
            <a:ext cx="2606040" cy="1783080"/>
          </a:xfrm>
          <a:prstGeom prst="roundRect">
            <a:avLst>
              <a:gd name="adj" fmla="val 6154"/>
            </a:avLst>
          </a:prstGeom>
          <a:solidFill>
            <a:srgbClr val="2F855A"/>
          </a:solidFill>
          <a:ln w="9525">
            <a:solidFill>
              <a:srgbClr val="2F855A"/>
            </a:solidFill>
            <a:prstDash val="solid"/>
          </a:ln>
        </p:spPr>
      </p:sp>
      <p:sp>
        <p:nvSpPr>
          <p:cNvPr id="11" name="cifra valor 2"/>
          <p:cNvSpPr txBox="1"/>
          <p:nvPr/>
        </p:nvSpPr>
        <p:spPr>
          <a:xfrm>
            <a:off x="6217920" y="1417320"/>
            <a:ext cx="2606040" cy="1005840"/>
          </a:xfrm>
          <a:prstGeom prst="rect">
            <a:avLst/>
          </a:prstGeom>
          <a:noFill/>
          <a:ln/>
        </p:spPr>
        <p:txBody>
          <a:bodyPr wrap="square" lIns="0" tIns="0" rIns="0" bIns="0" rtlCol="0" anchor="ctr"/>
          <a:lstStyle/>
          <a:p>
            <a:pPr algn="ctr" indent="0" marL="0">
              <a:buNone/>
            </a:pPr>
            <a:r>
              <a:rPr lang="en-US" sz="4800" b="1" dirty="0">
                <a:solidFill>
                  <a:schemeClr val="bg1"/>
                </a:solidFill>
                <a:latin typeface="Cambria" pitchFamily="34" charset="0"/>
                <a:ea typeface="Cambria" pitchFamily="34" charset="-122"/>
                <a:cs typeface="Cambria" pitchFamily="34" charset="-120"/>
              </a:rPr>
              <a:t>36/36</a:t>
            </a:r>
            <a:endParaRPr lang="en-US" sz="4800" dirty="0"/>
          </a:p>
        </p:txBody>
      </p:sp>
      <p:sp>
        <p:nvSpPr>
          <p:cNvPr id="12" name="cifra texto 2"/>
          <p:cNvSpPr txBox="1"/>
          <p:nvPr/>
        </p:nvSpPr>
        <p:spPr>
          <a:xfrm>
            <a:off x="6217920" y="2468880"/>
            <a:ext cx="2606040" cy="457200"/>
          </a:xfrm>
          <a:prstGeom prst="rect">
            <a:avLst/>
          </a:prstGeom>
          <a:noFill/>
          <a:ln/>
        </p:spPr>
        <p:txBody>
          <a:bodyPr wrap="square" lIns="0" tIns="0" rIns="0" bIns="0" rtlCol="0" anchor="ctr"/>
          <a:lstStyle/>
          <a:p>
            <a:pPr algn="ctr" indent="0" marL="0">
              <a:buNone/>
            </a:pPr>
            <a:r>
              <a:rPr lang="en-US" sz="1400" dirty="0">
                <a:solidFill>
                  <a:schemeClr val="bg1"/>
                </a:solidFill>
              </a:rPr>
              <a:t>pruebas de integridad</a:t>
            </a:r>
            <a:endParaRPr lang="en-US" sz="1400" dirty="0"/>
          </a:p>
        </p:txBody>
      </p:sp>
      <p:sp>
        <p:nvSpPr>
          <p:cNvPr id="13" name="cifra 3"/>
          <p:cNvSpPr/>
          <p:nvPr/>
        </p:nvSpPr>
        <p:spPr>
          <a:xfrm>
            <a:off x="9052560" y="1325880"/>
            <a:ext cx="2606040" cy="1783080"/>
          </a:xfrm>
          <a:prstGeom prst="roundRect">
            <a:avLst>
              <a:gd name="adj" fmla="val 6154"/>
            </a:avLst>
          </a:prstGeom>
          <a:solidFill>
            <a:srgbClr val="EEF1F6"/>
          </a:solidFill>
          <a:ln w="9525">
            <a:solidFill>
              <a:srgbClr val="EEF1F6"/>
            </a:solidFill>
            <a:prstDash val="solid"/>
          </a:ln>
        </p:spPr>
      </p:sp>
      <p:sp>
        <p:nvSpPr>
          <p:cNvPr id="14" name="cifra valor 3"/>
          <p:cNvSpPr txBox="1"/>
          <p:nvPr/>
        </p:nvSpPr>
        <p:spPr>
          <a:xfrm>
            <a:off x="9052560" y="1417320"/>
            <a:ext cx="2606040" cy="1005840"/>
          </a:xfrm>
          <a:prstGeom prst="rect">
            <a:avLst/>
          </a:prstGeom>
          <a:noFill/>
          <a:ln/>
        </p:spPr>
        <p:txBody>
          <a:bodyPr wrap="square" lIns="0" tIns="0" rIns="0" bIns="0" rtlCol="0" anchor="ctr"/>
          <a:lstStyle/>
          <a:p>
            <a:pPr algn="ctr" indent="0" marL="0">
              <a:buNone/>
            </a:pPr>
            <a:r>
              <a:rPr lang="en-US" sz="4800" b="1" dirty="0">
                <a:solidFill>
                  <a:schemeClr val="tx2"/>
                </a:solidFill>
                <a:latin typeface="Cambria" pitchFamily="34" charset="0"/>
                <a:ea typeface="Cambria" pitchFamily="34" charset="-122"/>
                <a:cs typeface="Cambria" pitchFamily="34" charset="-120"/>
              </a:rPr>
              <a:t>31</a:t>
            </a:r>
            <a:endParaRPr lang="en-US" sz="4800" dirty="0"/>
          </a:p>
        </p:txBody>
      </p:sp>
      <p:sp>
        <p:nvSpPr>
          <p:cNvPr id="15" name="cifra texto 3"/>
          <p:cNvSpPr txBox="1"/>
          <p:nvPr/>
        </p:nvSpPr>
        <p:spPr>
          <a:xfrm>
            <a:off x="9052560" y="2468880"/>
            <a:ext cx="2606040" cy="457200"/>
          </a:xfrm>
          <a:prstGeom prst="rect">
            <a:avLst/>
          </a:prstGeom>
          <a:noFill/>
          <a:ln/>
        </p:spPr>
        <p:txBody>
          <a:bodyPr wrap="square" lIns="0" tIns="0" rIns="0" bIns="0" rtlCol="0" anchor="ctr"/>
          <a:lstStyle/>
          <a:p>
            <a:pPr algn="ctr" indent="0" marL="0">
              <a:buNone/>
            </a:pPr>
            <a:r>
              <a:rPr lang="en-US" sz="1400" dirty="0">
                <a:solidFill>
                  <a:schemeClr val="tx1"/>
                </a:solidFill>
              </a:rPr>
              <a:t>casos de uso trazados</a:t>
            </a:r>
            <a:endParaRPr lang="en-US" sz="1400" dirty="0"/>
          </a:p>
        </p:txBody>
      </p:sp>
      <p:sp>
        <p:nvSpPr>
          <p:cNvPr id="16" name="subtitulo pruebas"/>
          <p:cNvSpPr txBox="1"/>
          <p:nvPr/>
        </p:nvSpPr>
        <p:spPr>
          <a:xfrm>
            <a:off x="548640" y="3429000"/>
            <a:ext cx="5486400" cy="411480"/>
          </a:xfrm>
          <a:prstGeom prst="rect">
            <a:avLst/>
          </a:prstGeom>
          <a:noFill/>
          <a:ln/>
        </p:spPr>
        <p:txBody>
          <a:bodyPr wrap="square" lIns="0" tIns="0" rIns="0" bIns="0" rtlCol="0" anchor="ctr"/>
          <a:lstStyle/>
          <a:p>
            <a:pPr indent="0" marL="0">
              <a:buNone/>
            </a:pPr>
            <a:r>
              <a:rPr lang="en-US" sz="1800" b="1" dirty="0">
                <a:solidFill>
                  <a:schemeClr val="tx2"/>
                </a:solidFill>
              </a:rPr>
              <a:t>Qué garantizan las pruebas</a:t>
            </a:r>
            <a:endParaRPr lang="en-US" sz="1800" dirty="0"/>
          </a:p>
        </p:txBody>
      </p:sp>
      <p:sp>
        <p:nvSpPr>
          <p:cNvPr id="17" name="lista pruebas"/>
          <p:cNvSpPr txBox="1"/>
          <p:nvPr/>
        </p:nvSpPr>
        <p:spPr>
          <a:xfrm>
            <a:off x="548640" y="3886200"/>
            <a:ext cx="5852160" cy="1920240"/>
          </a:xfrm>
          <a:prstGeom prst="rect">
            <a:avLst/>
          </a:prstGeom>
          <a:noFill/>
          <a:ln/>
        </p:spPr>
        <p:txBody>
          <a:bodyPr wrap="square" lIns="0" tIns="0" rIns="0" bIns="0" rtlCol="0" anchor="t"/>
          <a:lstStyle/>
          <a:p>
            <a:pPr marL="342900" indent="-342900">
              <a:spcAft>
                <a:spcPts val="600"/>
              </a:spcAft>
              <a:buSzPct val="100000"/>
              <a:buChar char="•"/>
            </a:pPr>
            <a:r>
              <a:rPr lang="en-US" sz="1500" dirty="0">
                <a:solidFill>
                  <a:schemeClr val="tx1"/>
                </a:solidFill>
              </a:rPr>
              <a:t>Un operador no puede revisar aportes de otra organización (T18)</a:t>
            </a:r>
            <a:endParaRPr lang="en-US" sz="1500" dirty="0"/>
          </a:p>
          <a:p>
            <a:pPr marL="342900" indent="-342900">
              <a:spcAft>
                <a:spcPts val="600"/>
              </a:spcAft>
              <a:buSzPct val="100000"/>
              <a:buChar char="•"/>
            </a:pPr>
            <a:r>
              <a:rPr lang="en-US" sz="1500" dirty="0">
                <a:solidFill>
                  <a:schemeClr val="tx1"/>
                </a:solidFill>
              </a:rPr>
              <a:t>Un reintento con la misma clave no duplica el caso</a:t>
            </a:r>
            <a:endParaRPr lang="en-US" sz="1500" dirty="0"/>
          </a:p>
          <a:p>
            <a:pPr marL="342900" indent="-342900">
              <a:spcAft>
                <a:spcPts val="600"/>
              </a:spcAft>
              <a:buSzPct val="100000"/>
              <a:buChar char="•"/>
            </a:pPr>
            <a:r>
              <a:rPr lang="en-US" sz="1500" dirty="0">
                <a:solidFill>
                  <a:schemeClr val="tx1"/>
                </a:solidFill>
              </a:rPr>
              <a:t>El historial de revisiones no se puede sobrescribir (T11)</a:t>
            </a:r>
            <a:endParaRPr lang="en-US" sz="1500" dirty="0"/>
          </a:p>
          <a:p>
            <a:pPr marL="342900" indent="-342900">
              <a:spcAft>
                <a:spcPts val="600"/>
              </a:spcAft>
              <a:buSzPct val="100000"/>
              <a:buChar char="•"/>
            </a:pPr>
            <a:r>
              <a:rPr lang="en-US" sz="1500" dirty="0">
                <a:solidFill>
                  <a:schemeClr val="tx1"/>
                </a:solidFill>
              </a:rPr>
              <a:t>Cerrar como recuperado exige fecha y evidencia del mismo caso (T35)</a:t>
            </a:r>
            <a:endParaRPr lang="en-US" sz="1500" dirty="0"/>
          </a:p>
        </p:txBody>
      </p:sp>
      <p:sp>
        <p:nvSpPr>
          <p:cNvPr id="18" name="tarjeta entorno"/>
          <p:cNvSpPr/>
          <p:nvPr/>
        </p:nvSpPr>
        <p:spPr>
          <a:xfrm>
            <a:off x="6766560" y="3474720"/>
            <a:ext cx="4846320" cy="2331720"/>
          </a:xfrm>
          <a:prstGeom prst="roundRect">
            <a:avLst>
              <a:gd name="adj" fmla="val 4706"/>
            </a:avLst>
          </a:prstGeom>
          <a:solidFill>
            <a:schemeClr val="bg2"/>
          </a:solidFill>
          <a:ln w="9525">
            <a:solidFill>
              <a:schemeClr val="bg2"/>
            </a:solidFill>
            <a:prstDash val="solid"/>
          </a:ln>
        </p:spPr>
      </p:sp>
      <p:sp>
        <p:nvSpPr>
          <p:cNvPr id="19" name="texto entorno"/>
          <p:cNvSpPr txBox="1"/>
          <p:nvPr/>
        </p:nvSpPr>
        <p:spPr>
          <a:xfrm>
            <a:off x="6995160" y="3611880"/>
            <a:ext cx="4389120" cy="2103120"/>
          </a:xfrm>
          <a:prstGeom prst="rect">
            <a:avLst/>
          </a:prstGeom>
          <a:noFill/>
          <a:ln/>
        </p:spPr>
        <p:txBody>
          <a:bodyPr wrap="square" lIns="0" tIns="0" rIns="0" bIns="0" rtlCol="0" anchor="t"/>
          <a:lstStyle/>
          <a:p>
            <a:pPr indent="0" marL="0">
              <a:spcAft>
                <a:spcPts val="600"/>
              </a:spcAft>
              <a:buNone/>
            </a:pPr>
            <a:r>
              <a:rPr lang="en-US" sz="1600" b="1" dirty="0">
                <a:solidFill>
                  <a:schemeClr val="tx2"/>
                </a:solidFill>
              </a:rPr>
              <a:t>Re-ejecutado el 14/10/2026</a:t>
            </a:r>
            <a:endParaRPr lang="en-US" sz="1600" dirty="0"/>
          </a:p>
          <a:p>
            <a:pPr indent="0" marL="0">
              <a:spcAft>
                <a:spcPts val="600"/>
              </a:spcAft>
              <a:buNone/>
            </a:pPr>
            <a:r>
              <a:rPr lang="en-US" sz="1400" dirty="0">
                <a:solidFill>
                  <a:schemeClr val="tx1"/>
                </a:solidFill>
              </a:rPr>
              <a:t>PostgreSQL 18.3 (PGlite 0.5.8) + PostGIS 3.6.2. El script completo y la ruta modular crean la misma estructura.</a:t>
            </a:r>
            <a:endParaRPr lang="en-US" sz="1600" dirty="0"/>
          </a:p>
          <a:p>
            <a:pPr indent="0" marL="0">
              <a:spcAft>
                <a:spcPts val="600"/>
              </a:spcAft>
              <a:buNone/>
            </a:pPr>
            <a:r>
              <a:rPr lang="en-US" sz="1400" dirty="0">
                <a:solidFill>
                  <a:schemeClr val="accent6"/>
                </a:solidFill>
              </a:rPr>
              <a:t>Falta: servidor nativo, concurrencia y respaldo (Sprint 1).</a:t>
            </a:r>
            <a:endParaRPr lang="en-US" sz="1600" dirty="0"/>
          </a:p>
        </p:txBody>
      </p:sp>
      <p:sp>
        <p:nvSpPr>
          <p:cNvPr id="25" name="Slide Number Placeholder 0"/>
          <p:cNvSpPr>
            <a:spLocks noGrp="1"/>
          </p:cNvSpPr>
          <p:nvPr>
            <p:ph type="sldNum" sz="quarter" idx="4294967295"/>
          </p:nvPr>
        </p:nvSpPr>
        <p:spPr>
          <a:xfrm>
            <a:off x="1124712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l"/>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ph idx="100" type="title" hasCustomPrompt="1"/>
          </p:nvPr>
        </p:nvSpPr>
        <p:spPr>
          <a:xfrm>
            <a:off x="548640" y="274320"/>
            <a:ext cx="9326880" cy="868680"/>
          </a:xfrm>
          <a:prstGeom prst="rect">
            <a:avLst/>
          </a:prstGeom>
          <a:noFill/>
          <a:ln/>
        </p:spPr>
        <p:txBody>
          <a:bodyPr wrap="square" lIns="0" tIns="0" rIns="0" bIns="0" rtlCol="0" anchor="ctr"/>
          <a:lstStyle/>
          <a:p>
            <a:pPr algn="l" indent="0" marL="0">
              <a:buNone/>
            </a:pPr>
            <a:r>
              <a:rPr lang="en-US" sz="2800" b="1" dirty="0">
                <a:solidFill>
                  <a:schemeClr val="tx2"/>
                </a:solidFill>
                <a:latin typeface="Cambria" pitchFamily="34" charset="0"/>
                <a:ea typeface="Cambria" pitchFamily="34" charset="-122"/>
                <a:cs typeface="Cambria" pitchFamily="34" charset="-120"/>
              </a:rPr>
              <a:t>Del objetivo a la prueba y la evidencia</a:t>
            </a:r>
            <a:endParaRPr lang="en-US" sz="2800" dirty="0"/>
          </a:p>
        </p:txBody>
      </p:sp>
      <p:sp>
        <p:nvSpPr>
          <p:cNvPr id="3" name="Text 0"/>
          <p:cNvSpPr/>
          <p:nvPr>
            <p:ph idx="101" type="body" hasCustomPrompt="1"/>
          </p:nvPr>
        </p:nvSpPr>
        <p:spPr>
          <a:xfrm>
            <a:off x="9966960" y="411480"/>
            <a:ext cx="1691640" cy="384048"/>
          </a:xfrm>
          <a:prstGeom prst="rect">
            <a:avLst/>
          </a:prstGeom>
          <a:solidFill>
            <a:schemeClr val="bg2"/>
          </a:solidFill>
          <a:ln/>
        </p:spPr>
        <p:txBody>
          <a:bodyPr wrap="square" lIns="0" tIns="0" rIns="0" bIns="0" rtlCol="0" anchor="ctr"/>
          <a:lstStyle/>
          <a:p>
            <a:pPr algn="ctr" indent="0" marL="0">
              <a:buNone/>
            </a:pPr>
            <a:r>
              <a:rPr lang="en-US" sz="1200" dirty="0">
                <a:solidFill>
                  <a:schemeClr val="tx2"/>
                </a:solidFill>
              </a:rPr>
              <a:t>Juan</a:t>
            </a:r>
            <a:endParaRPr lang="en-US" sz="1200" dirty="0"/>
          </a:p>
        </p:txBody>
      </p:sp>
      <p:pic>
        <p:nvPicPr>
          <p:cNvPr id="4" name="diagrama trazabilidad" descr="Cadena de trazabilidad de OE3 a su evidencia">    </p:cNvPr>
          <p:cNvPicPr>
            <a:picLocks noChangeAspect="1"/>
          </p:cNvPicPr>
          <p:nvPr/>
        </p:nvPicPr>
        <p:blipFill>
          <a:blip r:embed="rId1"/>
          <a:stretch>
            <a:fillRect/>
          </a:stretch>
        </p:blipFill>
        <p:spPr>
          <a:xfrm>
            <a:off x="548640" y="1280160"/>
            <a:ext cx="11064240" cy="4499488"/>
          </a:xfrm>
          <a:prstGeom prst="rect">
            <a:avLst/>
          </a:prstGeom>
        </p:spPr>
      </p:pic>
      <p:sp>
        <p:nvSpPr>
          <p:cNvPr id="5" name="conteo 0"/>
          <p:cNvSpPr txBox="1"/>
          <p:nvPr/>
        </p:nvSpPr>
        <p:spPr>
          <a:xfrm>
            <a:off x="548640" y="5897880"/>
            <a:ext cx="2743200" cy="457200"/>
          </a:xfrm>
          <a:prstGeom prst="rect">
            <a:avLst/>
          </a:prstGeom>
          <a:noFill/>
          <a:ln/>
        </p:spPr>
        <p:txBody>
          <a:bodyPr wrap="square" lIns="0" tIns="0" rIns="0" bIns="0" rtlCol="0" anchor="ctr"/>
          <a:lstStyle/>
          <a:p>
            <a:pPr indent="0" marL="0">
              <a:buNone/>
            </a:pPr>
            <a:r>
              <a:rPr lang="en-US" sz="2600" b="1" dirty="0">
                <a:solidFill>
                  <a:schemeClr val="accent5"/>
                </a:solidFill>
                <a:latin typeface="Cambria" pitchFamily="34" charset="0"/>
                <a:ea typeface="Cambria" pitchFamily="34" charset="-122"/>
                <a:cs typeface="Cambria" pitchFamily="34" charset="-120"/>
              </a:rPr>
              <a:t>6 </a:t>
            </a:r>
            <a:pPr indent="0" marL="0">
              <a:buNone/>
            </a:pPr>
            <a:r>
              <a:rPr lang="en-US" sz="1400" dirty="0">
                <a:solidFill>
                  <a:schemeClr val="tx1"/>
                </a:solidFill>
              </a:rPr>
              <a:t>objetivos OE</a:t>
            </a:r>
            <a:endParaRPr lang="en-US" sz="2600" dirty="0"/>
          </a:p>
        </p:txBody>
      </p:sp>
      <p:sp>
        <p:nvSpPr>
          <p:cNvPr id="6" name="conteo 1"/>
          <p:cNvSpPr txBox="1"/>
          <p:nvPr/>
        </p:nvSpPr>
        <p:spPr>
          <a:xfrm>
            <a:off x="3383280" y="5897880"/>
            <a:ext cx="2743200" cy="457200"/>
          </a:xfrm>
          <a:prstGeom prst="rect">
            <a:avLst/>
          </a:prstGeom>
          <a:noFill/>
          <a:ln/>
        </p:spPr>
        <p:txBody>
          <a:bodyPr wrap="square" lIns="0" tIns="0" rIns="0" bIns="0" rtlCol="0" anchor="ctr"/>
          <a:lstStyle/>
          <a:p>
            <a:pPr indent="0" marL="0">
              <a:buNone/>
            </a:pPr>
            <a:r>
              <a:rPr lang="en-US" sz="2600" b="1" dirty="0">
                <a:solidFill>
                  <a:schemeClr val="accent5"/>
                </a:solidFill>
                <a:latin typeface="Cambria" pitchFamily="34" charset="0"/>
                <a:ea typeface="Cambria" pitchFamily="34" charset="-122"/>
                <a:cs typeface="Cambria" pitchFamily="34" charset="-120"/>
              </a:rPr>
              <a:t>31 </a:t>
            </a:r>
            <a:pPr indent="0" marL="0">
              <a:buNone/>
            </a:pPr>
            <a:r>
              <a:rPr lang="en-US" sz="1400" dirty="0">
                <a:solidFill>
                  <a:schemeClr val="tx1"/>
                </a:solidFill>
              </a:rPr>
              <a:t>RF y CU</a:t>
            </a:r>
            <a:endParaRPr lang="en-US" sz="2600" dirty="0"/>
          </a:p>
        </p:txBody>
      </p:sp>
      <p:sp>
        <p:nvSpPr>
          <p:cNvPr id="7" name="conteo 2"/>
          <p:cNvSpPr txBox="1"/>
          <p:nvPr/>
        </p:nvSpPr>
        <p:spPr>
          <a:xfrm>
            <a:off x="6217920" y="5897880"/>
            <a:ext cx="2743200" cy="457200"/>
          </a:xfrm>
          <a:prstGeom prst="rect">
            <a:avLst/>
          </a:prstGeom>
          <a:noFill/>
          <a:ln/>
        </p:spPr>
        <p:txBody>
          <a:bodyPr wrap="square" lIns="0" tIns="0" rIns="0" bIns="0" rtlCol="0" anchor="ctr"/>
          <a:lstStyle/>
          <a:p>
            <a:pPr indent="0" marL="0">
              <a:buNone/>
            </a:pPr>
            <a:r>
              <a:rPr lang="en-US" sz="2600" b="1" dirty="0">
                <a:solidFill>
                  <a:schemeClr val="accent5"/>
                </a:solidFill>
                <a:latin typeface="Cambria" pitchFamily="34" charset="0"/>
                <a:ea typeface="Cambria" pitchFamily="34" charset="-122"/>
                <a:cs typeface="Cambria" pitchFamily="34" charset="-120"/>
              </a:rPr>
              <a:t>33 </a:t>
            </a:r>
            <a:pPr indent="0" marL="0">
              <a:buNone/>
            </a:pPr>
            <a:r>
              <a:rPr lang="en-US" sz="1400" dirty="0">
                <a:solidFill>
                  <a:schemeClr val="tx1"/>
                </a:solidFill>
              </a:rPr>
              <a:t>HU y HT</a:t>
            </a:r>
            <a:endParaRPr lang="en-US" sz="2600" dirty="0"/>
          </a:p>
        </p:txBody>
      </p:sp>
      <p:sp>
        <p:nvSpPr>
          <p:cNvPr id="8" name="conteo 3"/>
          <p:cNvSpPr txBox="1"/>
          <p:nvPr/>
        </p:nvSpPr>
        <p:spPr>
          <a:xfrm>
            <a:off x="9052560" y="5897880"/>
            <a:ext cx="2743200" cy="457200"/>
          </a:xfrm>
          <a:prstGeom prst="rect">
            <a:avLst/>
          </a:prstGeom>
          <a:noFill/>
          <a:ln/>
        </p:spPr>
        <p:txBody>
          <a:bodyPr wrap="square" lIns="0" tIns="0" rIns="0" bIns="0" rtlCol="0" anchor="ctr"/>
          <a:lstStyle/>
          <a:p>
            <a:pPr indent="0" marL="0">
              <a:buNone/>
            </a:pPr>
            <a:r>
              <a:rPr lang="en-US" sz="2600" b="1" dirty="0">
                <a:solidFill>
                  <a:schemeClr val="accent5"/>
                </a:solidFill>
                <a:latin typeface="Cambria" pitchFamily="34" charset="0"/>
                <a:ea typeface="Cambria" pitchFamily="34" charset="-122"/>
                <a:cs typeface="Cambria" pitchFamily="34" charset="-120"/>
              </a:rPr>
              <a:t>54 </a:t>
            </a:r>
            <a:pPr indent="0" marL="0">
              <a:buNone/>
            </a:pPr>
            <a:r>
              <a:rPr lang="en-US" sz="1400" dirty="0">
                <a:solidFill>
                  <a:schemeClr val="tx1"/>
                </a:solidFill>
              </a:rPr>
              <a:t>casos de prueba (44 ejecutados)</a:t>
            </a:r>
            <a:endParaRPr lang="en-US" sz="2600" dirty="0"/>
          </a:p>
        </p:txBody>
      </p:sp>
      <p:sp>
        <p:nvSpPr>
          <p:cNvPr id="25" name="Slide Number Placeholder 0"/>
          <p:cNvSpPr>
            <a:spLocks noGrp="1"/>
          </p:cNvSpPr>
          <p:nvPr>
            <p:ph type="sldNum" sz="quarter" idx="4294967295"/>
          </p:nvPr>
        </p:nvSpPr>
        <p:spPr>
          <a:xfrm>
            <a:off x="1124712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l"/>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ph idx="100" type="title" hasCustomPrompt="1"/>
          </p:nvPr>
        </p:nvSpPr>
        <p:spPr>
          <a:xfrm>
            <a:off x="548640" y="274320"/>
            <a:ext cx="9326880" cy="868680"/>
          </a:xfrm>
          <a:prstGeom prst="rect">
            <a:avLst/>
          </a:prstGeom>
          <a:noFill/>
          <a:ln/>
        </p:spPr>
        <p:txBody>
          <a:bodyPr wrap="square" lIns="0" tIns="0" rIns="0" bIns="0" rtlCol="0" anchor="ctr"/>
          <a:lstStyle/>
          <a:p>
            <a:pPr algn="l" indent="0" marL="0">
              <a:buNone/>
            </a:pPr>
            <a:r>
              <a:rPr lang="en-US" sz="2800" b="1" dirty="0">
                <a:solidFill>
                  <a:schemeClr val="tx2"/>
                </a:solidFill>
                <a:latin typeface="Cambria" pitchFamily="34" charset="0"/>
                <a:ea typeface="Cambria" pitchFamily="34" charset="-122"/>
                <a:cs typeface="Cambria" pitchFamily="34" charset="-120"/>
              </a:rPr>
              <a:t>Scrum semanal: backlog y Sprint 1</a:t>
            </a:r>
            <a:endParaRPr lang="en-US" sz="2800" dirty="0"/>
          </a:p>
        </p:txBody>
      </p:sp>
      <p:sp>
        <p:nvSpPr>
          <p:cNvPr id="3" name="Text 0"/>
          <p:cNvSpPr/>
          <p:nvPr>
            <p:ph idx="101" type="body" hasCustomPrompt="1"/>
          </p:nvPr>
        </p:nvSpPr>
        <p:spPr>
          <a:xfrm>
            <a:off x="9966960" y="411480"/>
            <a:ext cx="1691640" cy="384048"/>
          </a:xfrm>
          <a:prstGeom prst="rect">
            <a:avLst/>
          </a:prstGeom>
          <a:solidFill>
            <a:schemeClr val="bg2"/>
          </a:solidFill>
          <a:ln/>
        </p:spPr>
        <p:txBody>
          <a:bodyPr wrap="square" lIns="0" tIns="0" rIns="0" bIns="0" rtlCol="0" anchor="ctr"/>
          <a:lstStyle/>
          <a:p>
            <a:pPr algn="ctr" indent="0" marL="0">
              <a:buNone/>
            </a:pPr>
            <a:r>
              <a:rPr lang="en-US" sz="1200" dirty="0">
                <a:solidFill>
                  <a:schemeClr val="tx2"/>
                </a:solidFill>
              </a:rPr>
              <a:t>Juan</a:t>
            </a:r>
            <a:endParaRPr lang="en-US" sz="1200" dirty="0"/>
          </a:p>
        </p:txBody>
      </p:sp>
      <p:graphicFrame>
        <p:nvGraphicFramePr>
          <p:cNvPr id="4" name="grafico backlog" descr=""/>
          <p:cNvGraphicFramePr/>
          <p:nvPr/>
        </p:nvGraphicFramePr>
        <p:xfrm>
          <a:off x="548640" y="1325880"/>
          <a:ext cx="5394960" cy="4206240"/>
        </p:xfrm>
        <a:graphic xmlns:a="http://schemas.openxmlformats.org/drawingml/2006/main">
          <a:graphicData uri="http://schemas.openxmlformats.org/drawingml/2006/chart">
            <c:chart xmlns:c="http://schemas.openxmlformats.org/drawingml/2006/chart" r:id="rId1"/>
          </a:graphicData>
        </a:graphic>
      </p:graphicFrame>
      <p:sp>
        <p:nvSpPr>
          <p:cNvPr id="5" name="nota estimacion"/>
          <p:cNvSpPr txBox="1"/>
          <p:nvPr/>
        </p:nvSpPr>
        <p:spPr>
          <a:xfrm>
            <a:off x="548640" y="5623560"/>
            <a:ext cx="5394960" cy="320040"/>
          </a:xfrm>
          <a:prstGeom prst="rect">
            <a:avLst/>
          </a:prstGeom>
          <a:noFill/>
          <a:ln/>
        </p:spPr>
        <p:txBody>
          <a:bodyPr wrap="square" lIns="0" tIns="0" rIns="0" bIns="0" rtlCol="0" anchor="ctr"/>
          <a:lstStyle/>
          <a:p>
            <a:pPr indent="0" marL="0">
              <a:buNone/>
            </a:pPr>
            <a:r>
              <a:rPr lang="en-US" sz="1200" i="1" dirty="0">
                <a:solidFill>
                  <a:schemeClr val="accent4"/>
                </a:solidFill>
              </a:rPr>
              <a:t>Estimación preliminar; se valida en Planning Poker el 15/10.</a:t>
            </a:r>
            <a:endParaRPr lang="en-US" sz="1200" dirty="0"/>
          </a:p>
        </p:txBody>
      </p:sp>
      <p:sp>
        <p:nvSpPr>
          <p:cNvPr id="6" name="tarjeta sprint"/>
          <p:cNvSpPr/>
          <p:nvPr/>
        </p:nvSpPr>
        <p:spPr>
          <a:xfrm>
            <a:off x="6309360" y="1325880"/>
            <a:ext cx="5303520" cy="4617720"/>
          </a:xfrm>
          <a:prstGeom prst="roundRect">
            <a:avLst>
              <a:gd name="adj" fmla="val 2376"/>
            </a:avLst>
          </a:prstGeom>
          <a:solidFill>
            <a:srgbClr val="EEF1F6"/>
          </a:solidFill>
          <a:ln w="9525">
            <a:solidFill>
              <a:srgbClr val="EEF1F6"/>
            </a:solidFill>
            <a:prstDash val="solid"/>
          </a:ln>
        </p:spPr>
      </p:sp>
      <p:sp>
        <p:nvSpPr>
          <p:cNvPr id="7" name="sprint objetivo"/>
          <p:cNvSpPr txBox="1"/>
          <p:nvPr/>
        </p:nvSpPr>
        <p:spPr>
          <a:xfrm>
            <a:off x="6583680" y="1463040"/>
            <a:ext cx="4754880" cy="1234440"/>
          </a:xfrm>
          <a:prstGeom prst="rect">
            <a:avLst/>
          </a:prstGeom>
          <a:noFill/>
          <a:ln/>
        </p:spPr>
        <p:txBody>
          <a:bodyPr wrap="square" lIns="0" tIns="0" rIns="0" bIns="0" rtlCol="0" anchor="t"/>
          <a:lstStyle/>
          <a:p>
            <a:pPr indent="0" marL="0">
              <a:spcAft>
                <a:spcPts val="600"/>
              </a:spcAft>
              <a:buNone/>
            </a:pPr>
            <a:r>
              <a:rPr lang="en-US" sz="1800" b="1" dirty="0">
                <a:solidFill>
                  <a:schemeClr val="tx2"/>
                </a:solidFill>
              </a:rPr>
              <a:t>Sprint 1 · 15 al 21 de octubre</a:t>
            </a:r>
            <a:endParaRPr lang="en-US" sz="1800" dirty="0"/>
          </a:p>
          <a:p>
            <a:pPr indent="0" marL="0">
              <a:spcAft>
                <a:spcPts val="600"/>
              </a:spcAft>
              <a:buNone/>
            </a:pPr>
            <a:r>
              <a:rPr lang="en-US" sz="1400" dirty="0">
                <a:solidFill>
                  <a:schemeClr val="tx1"/>
                </a:solidFill>
              </a:rPr>
              <a:t>Objetivo: el ciudadano crea su cuenta y reporta con folio; el operador ve el caso en la bandeja de su organización.</a:t>
            </a:r>
            <a:endParaRPr lang="en-US" sz="1800" dirty="0"/>
          </a:p>
        </p:txBody>
      </p:sp>
      <p:sp>
        <p:nvSpPr>
          <p:cNvPr id="8" name="sprint detalle"/>
          <p:cNvSpPr txBox="1"/>
          <p:nvPr/>
        </p:nvSpPr>
        <p:spPr>
          <a:xfrm>
            <a:off x="6583680" y="2788920"/>
            <a:ext cx="4754880" cy="2011680"/>
          </a:xfrm>
          <a:prstGeom prst="rect">
            <a:avLst/>
          </a:prstGeom>
          <a:noFill/>
          <a:ln/>
        </p:spPr>
        <p:txBody>
          <a:bodyPr wrap="square" lIns="0" tIns="0" rIns="0" bIns="0" rtlCol="0" anchor="t"/>
          <a:lstStyle/>
          <a:p>
            <a:pPr marL="342900" indent="-342900">
              <a:spcAft>
                <a:spcPts val="600"/>
              </a:spcAft>
              <a:buSzPct val="100000"/>
              <a:buChar char="•"/>
            </a:pPr>
            <a:r>
              <a:rPr lang="en-US" sz="1400" dirty="0">
                <a:solidFill>
                  <a:schemeClr val="tx1"/>
                </a:solidFill>
              </a:rPr>
              <a:t>HT01 base técnica · HU01 cuenta · HU03 reporte · HU13 bandeja</a:t>
            </a:r>
            <a:endParaRPr lang="en-US" sz="1400" dirty="0"/>
          </a:p>
          <a:p>
            <a:pPr marL="342900" indent="-342900">
              <a:spcAft>
                <a:spcPts val="600"/>
              </a:spcAft>
              <a:buSzPct val="100000"/>
              <a:buChar char="•"/>
            </a:pPr>
            <a:r>
              <a:rPr lang="en-US" sz="1400" dirty="0">
                <a:solidFill>
                  <a:schemeClr val="tx1"/>
                </a:solidFill>
              </a:rPr>
              <a:t>26 puntos · 46 h estimadas (capacidad supuesta 45 h)</a:t>
            </a:r>
            <a:endParaRPr lang="en-US" sz="1400" dirty="0"/>
          </a:p>
          <a:p>
            <a:pPr marL="342900" indent="-342900">
              <a:spcAft>
                <a:spcPts val="600"/>
              </a:spcAft>
              <a:buSzPct val="100000"/>
              <a:buChar char="•"/>
            </a:pPr>
            <a:r>
              <a:rPr lang="en-US" sz="1400" dirty="0">
                <a:solidFill>
                  <a:schemeClr val="tx1"/>
                </a:solidFill>
              </a:rPr>
              <a:t>Alan 17 h · Jorge 15 h · Juan 14 h</a:t>
            </a:r>
            <a:endParaRPr lang="en-US" sz="1400" dirty="0"/>
          </a:p>
          <a:p>
            <a:pPr marL="342900" indent="-342900">
              <a:spcAft>
                <a:spcPts val="600"/>
              </a:spcAft>
              <a:buSzPct val="100000"/>
              <a:buChar char="•"/>
            </a:pPr>
            <a:r>
              <a:rPr lang="en-US" sz="1400" dirty="0">
                <a:solidFill>
                  <a:schemeClr val="tx1"/>
                </a:solidFill>
              </a:rPr>
              <a:t>Roles acordados: PO Jorge · SM Alan · equipo: los tres</a:t>
            </a:r>
            <a:endParaRPr lang="en-US" sz="1400" dirty="0"/>
          </a:p>
        </p:txBody>
      </p:sp>
      <p:sp>
        <p:nvSpPr>
          <p:cNvPr id="9" name="sprint ritmo"/>
          <p:cNvSpPr txBox="1"/>
          <p:nvPr/>
        </p:nvSpPr>
        <p:spPr>
          <a:xfrm>
            <a:off x="6583680" y="5257800"/>
            <a:ext cx="4754880" cy="292608"/>
          </a:xfrm>
          <a:prstGeom prst="roundRect">
            <a:avLst>
              <a:gd name="adj" fmla="val 50000"/>
            </a:avLst>
          </a:prstGeom>
          <a:solidFill>
            <a:srgbClr val="14213D"/>
          </a:solidFill>
          <a:ln/>
        </p:spPr>
        <p:txBody>
          <a:bodyPr wrap="square" lIns="0" tIns="0" rIns="0" bIns="0" rtlCol="0" anchor="ctr"/>
          <a:lstStyle/>
          <a:p>
            <a:pPr algn="ctr" indent="0" marL="0">
              <a:buNone/>
            </a:pPr>
            <a:r>
              <a:rPr lang="en-US" sz="1100" b="1" dirty="0">
                <a:solidFill>
                  <a:srgbClr val="FFFFFF"/>
                </a:solidFill>
              </a:rPr>
              <a:t>DoD v1.0 · burndown diario · review y retro el 21/10</a:t>
            </a:r>
            <a:endParaRPr lang="en-US" sz="1100" dirty="0"/>
          </a:p>
        </p:txBody>
      </p:sp>
      <p:sp>
        <p:nvSpPr>
          <p:cNvPr id="25" name="Slide Number Placeholder 0"/>
          <p:cNvSpPr>
            <a:spLocks noGrp="1"/>
          </p:cNvSpPr>
          <p:nvPr>
            <p:ph type="sldNum" sz="quarter" idx="4294967295"/>
          </p:nvPr>
        </p:nvSpPr>
        <p:spPr>
          <a:xfrm>
            <a:off x="1124712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l"/>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ph idx="100" type="title" hasCustomPrompt="1"/>
          </p:nvPr>
        </p:nvSpPr>
        <p:spPr>
          <a:xfrm>
            <a:off x="548640" y="274320"/>
            <a:ext cx="9326880" cy="868680"/>
          </a:xfrm>
          <a:prstGeom prst="rect">
            <a:avLst/>
          </a:prstGeom>
          <a:noFill/>
          <a:ln/>
        </p:spPr>
        <p:txBody>
          <a:bodyPr wrap="square" lIns="0" tIns="0" rIns="0" bIns="0" rtlCol="0" anchor="ctr"/>
          <a:lstStyle/>
          <a:p>
            <a:pPr algn="l" indent="0" marL="0">
              <a:buNone/>
            </a:pPr>
            <a:r>
              <a:rPr lang="en-US" sz="2800" b="1" dirty="0">
                <a:solidFill>
                  <a:schemeClr val="tx2"/>
                </a:solidFill>
                <a:latin typeface="Cambria" pitchFamily="34" charset="0"/>
                <a:ea typeface="Cambria" pitchFamily="34" charset="-122"/>
                <a:cs typeface="Cambria" pitchFamily="34" charset="-120"/>
              </a:rPr>
              <a:t>Diseño completo; desarrollo con retraso</a:t>
            </a:r>
            <a:endParaRPr lang="en-US" sz="2800" dirty="0"/>
          </a:p>
        </p:txBody>
      </p:sp>
      <p:sp>
        <p:nvSpPr>
          <p:cNvPr id="3" name="Text 0"/>
          <p:cNvSpPr/>
          <p:nvPr>
            <p:ph idx="101" type="body" hasCustomPrompt="1"/>
          </p:nvPr>
        </p:nvSpPr>
        <p:spPr>
          <a:xfrm>
            <a:off x="9966960" y="411480"/>
            <a:ext cx="1691640" cy="384048"/>
          </a:xfrm>
          <a:prstGeom prst="rect">
            <a:avLst/>
          </a:prstGeom>
          <a:solidFill>
            <a:schemeClr val="bg2"/>
          </a:solidFill>
          <a:ln/>
        </p:spPr>
        <p:txBody>
          <a:bodyPr wrap="square" lIns="0" tIns="0" rIns="0" bIns="0" rtlCol="0" anchor="ctr"/>
          <a:lstStyle/>
          <a:p>
            <a:pPr algn="ctr" indent="0" marL="0">
              <a:buNone/>
            </a:pPr>
            <a:r>
              <a:rPr lang="en-US" sz="1200" dirty="0">
                <a:solidFill>
                  <a:schemeClr val="tx2"/>
                </a:solidFill>
              </a:rPr>
              <a:t>Alan</a:t>
            </a:r>
            <a:endParaRPr lang="en-US" sz="1200" dirty="0"/>
          </a:p>
        </p:txBody>
      </p:sp>
      <p:pic>
        <p:nvPicPr>
          <p:cNvPr id="4" name="gantt" descr="Carta Gantt con estado real y replanificación">    </p:cNvPr>
          <p:cNvPicPr>
            <a:picLocks noChangeAspect="1"/>
          </p:cNvPicPr>
          <p:nvPr/>
        </p:nvPicPr>
        <p:blipFill>
          <a:blip r:embed="rId1"/>
          <a:stretch>
            <a:fillRect/>
          </a:stretch>
        </p:blipFill>
        <p:spPr>
          <a:xfrm>
            <a:off x="548640" y="1280160"/>
            <a:ext cx="7315200" cy="3155824"/>
          </a:xfrm>
          <a:prstGeom prst="rect">
            <a:avLst/>
          </a:prstGeom>
        </p:spPr>
      </p:pic>
      <p:sp>
        <p:nvSpPr>
          <p:cNvPr id="5" name="titulo ajustes"/>
          <p:cNvSpPr txBox="1"/>
          <p:nvPr/>
        </p:nvSpPr>
        <p:spPr>
          <a:xfrm>
            <a:off x="8183880" y="1280160"/>
            <a:ext cx="3474720" cy="411480"/>
          </a:xfrm>
          <a:prstGeom prst="rect">
            <a:avLst/>
          </a:prstGeom>
          <a:noFill/>
          <a:ln/>
        </p:spPr>
        <p:txBody>
          <a:bodyPr wrap="square" lIns="0" tIns="0" rIns="0" bIns="0" rtlCol="0" anchor="ctr"/>
          <a:lstStyle/>
          <a:p>
            <a:pPr indent="0" marL="0">
              <a:buNone/>
            </a:pPr>
            <a:r>
              <a:rPr lang="en-US" sz="1800" b="1" dirty="0">
                <a:solidFill>
                  <a:schemeClr val="tx2"/>
                </a:solidFill>
              </a:rPr>
              <a:t>Ajustes que proponemos</a:t>
            </a:r>
            <a:endParaRPr lang="en-US" sz="1800" dirty="0"/>
          </a:p>
        </p:txBody>
      </p:sp>
      <p:sp>
        <p:nvSpPr>
          <p:cNvPr id="6" name="lista ajustes"/>
          <p:cNvSpPr txBox="1"/>
          <p:nvPr/>
        </p:nvSpPr>
        <p:spPr>
          <a:xfrm>
            <a:off x="8183880" y="1737360"/>
            <a:ext cx="3474720" cy="2926080"/>
          </a:xfrm>
          <a:prstGeom prst="rect">
            <a:avLst/>
          </a:prstGeom>
          <a:noFill/>
          <a:ln/>
        </p:spPr>
        <p:txBody>
          <a:bodyPr wrap="square" lIns="0" tIns="0" rIns="0" bIns="0" rtlCol="0" anchor="t"/>
          <a:lstStyle/>
          <a:p>
            <a:pPr marL="342900" indent="-342900">
              <a:spcAft>
                <a:spcPts val="600"/>
              </a:spcAft>
              <a:buSzPct val="100000"/>
              <a:buChar char="•"/>
            </a:pPr>
            <a:r>
              <a:rPr lang="en-US" sz="1500" dirty="0">
                <a:solidFill>
                  <a:schemeClr val="tx1"/>
                </a:solidFill>
              </a:rPr>
              <a:t>Priorizar OE2, OE3 y OE4 (núcleo del MVP)</a:t>
            </a:r>
            <a:endParaRPr lang="en-US" sz="1500" dirty="0"/>
          </a:p>
          <a:p>
            <a:pPr marL="342900" indent="-342900">
              <a:spcAft>
                <a:spcPts val="600"/>
              </a:spcAft>
              <a:buSzPct val="100000"/>
              <a:buChar char="•"/>
            </a:pPr>
            <a:r>
              <a:rPr lang="en-US" sz="1500" dirty="0">
                <a:solidFill>
                  <a:schemeClr val="tx1"/>
                </a:solidFill>
              </a:rPr>
              <a:t>OE1 con alcance reducido y datos sintéticos</a:t>
            </a:r>
            <a:endParaRPr lang="en-US" sz="1500" dirty="0"/>
          </a:p>
          <a:p>
            <a:pPr marL="342900" indent="-342900">
              <a:spcAft>
                <a:spcPts val="600"/>
              </a:spcAft>
              <a:buSzPct val="100000"/>
              <a:buChar char="•"/>
            </a:pPr>
            <a:r>
              <a:rPr lang="en-US" sz="1500" dirty="0">
                <a:solidFill>
                  <a:schemeClr val="tx1"/>
                </a:solidFill>
              </a:rPr>
              <a:t>Diferir cámaras e IA, OE5 y OE6</a:t>
            </a:r>
            <a:endParaRPr lang="en-US" sz="1500" dirty="0"/>
          </a:p>
          <a:p>
            <a:pPr marL="342900" indent="-342900">
              <a:spcAft>
                <a:spcPts val="600"/>
              </a:spcAft>
              <a:buSzPct val="100000"/>
              <a:buChar char="•"/>
            </a:pPr>
            <a:r>
              <a:rPr lang="en-US" sz="1500" dirty="0">
                <a:solidFill>
                  <a:schemeClr val="tx1"/>
                </a:solidFill>
              </a:rPr>
              <a:t>Piloto desplegado antes de S13</a:t>
            </a:r>
            <a:endParaRPr lang="en-US" sz="1500" dirty="0"/>
          </a:p>
          <a:p>
            <a:pPr marL="342900" indent="-342900">
              <a:spcAft>
                <a:spcPts val="600"/>
              </a:spcAft>
              <a:buSzPct val="100000"/>
              <a:buChar char="•"/>
            </a:pPr>
            <a:r>
              <a:rPr lang="en-US" sz="1500" dirty="0">
                <a:solidFill>
                  <a:schemeClr val="tx1"/>
                </a:solidFill>
              </a:rPr>
              <a:t>Commits propios de cada integrante por historia</a:t>
            </a:r>
            <a:endParaRPr lang="en-US" sz="1500" dirty="0"/>
          </a:p>
        </p:txBody>
      </p:sp>
      <p:sp>
        <p:nvSpPr>
          <p:cNvPr id="7" name="tarjeta brecha"/>
          <p:cNvSpPr/>
          <p:nvPr/>
        </p:nvSpPr>
        <p:spPr>
          <a:xfrm>
            <a:off x="548640" y="4800600"/>
            <a:ext cx="11064240" cy="1143000"/>
          </a:xfrm>
          <a:prstGeom prst="roundRect">
            <a:avLst>
              <a:gd name="adj" fmla="val 9600"/>
            </a:avLst>
          </a:prstGeom>
          <a:solidFill>
            <a:srgbClr val="EEF1F6"/>
          </a:solidFill>
          <a:ln w="9525">
            <a:solidFill>
              <a:srgbClr val="EEF1F6"/>
            </a:solidFill>
            <a:prstDash val="solid"/>
          </a:ln>
        </p:spPr>
      </p:sp>
      <p:sp>
        <p:nvSpPr>
          <p:cNvPr id="8" name="texto brecha"/>
          <p:cNvSpPr txBox="1"/>
          <p:nvPr/>
        </p:nvSpPr>
        <p:spPr>
          <a:xfrm>
            <a:off x="777240" y="4892040"/>
            <a:ext cx="10607040" cy="960120"/>
          </a:xfrm>
          <a:prstGeom prst="rect">
            <a:avLst/>
          </a:prstGeom>
          <a:noFill/>
          <a:ln/>
        </p:spPr>
        <p:txBody>
          <a:bodyPr wrap="square" lIns="0" tIns="0" rIns="0" bIns="0" rtlCol="0" anchor="ctr"/>
          <a:lstStyle/>
          <a:p>
            <a:pPr indent="0" marL="0">
              <a:buNone/>
            </a:pPr>
            <a:r>
              <a:rPr lang="en-US" sz="1400" b="1" dirty="0">
                <a:solidFill>
                  <a:schemeClr val="accent6"/>
                </a:solidFill>
              </a:rPr>
              <a:t>Brecha: </a:t>
            </a:r>
            <a:pPr indent="0" marL="0">
              <a:buNone/>
            </a:pPr>
            <a:r>
              <a:rPr lang="en-US" sz="1400" dirty="0">
                <a:solidFill>
                  <a:schemeClr val="tx1"/>
                </a:solidFill>
              </a:rPr>
              <a:t>el plan v4.1 esperaba cuentas, casos y evidencia desplegados en S8 y el panel en S9. El cambio de proyecto concentró el trabajo en rediseño y modelo de datos; por eso replanificamos en cinco sprints con burndown y velocidad medida.</a:t>
            </a:r>
            <a:endParaRPr lang="en-US" sz="1400" dirty="0"/>
          </a:p>
        </p:txBody>
      </p:sp>
      <p:sp>
        <p:nvSpPr>
          <p:cNvPr id="25" name="Slide Number Placeholder 0"/>
          <p:cNvSpPr>
            <a:spLocks noGrp="1"/>
          </p:cNvSpPr>
          <p:nvPr>
            <p:ph type="sldNum" sz="quarter" idx="4294967295"/>
          </p:nvPr>
        </p:nvSpPr>
        <p:spPr>
          <a:xfrm>
            <a:off x="1124712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l"/>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ph idx="100" type="title" hasCustomPrompt="1"/>
          </p:nvPr>
        </p:nvSpPr>
        <p:spPr>
          <a:xfrm>
            <a:off x="548640" y="365760"/>
            <a:ext cx="9326880" cy="868680"/>
          </a:xfrm>
          <a:prstGeom prst="rect">
            <a:avLst/>
          </a:prstGeom>
          <a:noFill/>
          <a:ln/>
        </p:spPr>
        <p:txBody>
          <a:bodyPr wrap="square" lIns="0" tIns="0" rIns="0" bIns="0" rtlCol="0"/>
          <a:lstStyle/>
          <a:p>
            <a:pPr algn="l" indent="0" marL="0">
              <a:buNone/>
            </a:pPr>
            <a:r>
              <a:rPr lang="en-US" sz="2800" b="1" dirty="0">
                <a:solidFill>
                  <a:schemeClr val="bg1"/>
                </a:solidFill>
                <a:latin typeface="Cambria" pitchFamily="34" charset="0"/>
                <a:ea typeface="Cambria" pitchFamily="34" charset="-122"/>
                <a:cs typeface="Cambria" pitchFamily="34" charset="-120"/>
              </a:rPr>
              <a:t>Próximos pasos y decisiones que necesitamos</a:t>
            </a:r>
            <a:endParaRPr lang="en-US" sz="2800" dirty="0"/>
          </a:p>
        </p:txBody>
      </p:sp>
      <p:sp>
        <p:nvSpPr>
          <p:cNvPr id="3" name="Text 0"/>
          <p:cNvSpPr/>
          <p:nvPr>
            <p:ph idx="101" type="body" hasCustomPrompt="1"/>
          </p:nvPr>
        </p:nvSpPr>
        <p:spPr>
          <a:xfrm>
            <a:off x="9966960" y="502920"/>
            <a:ext cx="1691640" cy="384048"/>
          </a:xfrm>
          <a:prstGeom prst="rect">
            <a:avLst/>
          </a:prstGeom>
          <a:solidFill>
            <a:schemeClr val="accent1"/>
          </a:solidFill>
          <a:ln/>
        </p:spPr>
        <p:txBody>
          <a:bodyPr wrap="square" lIns="0" tIns="0" rIns="0" bIns="0" rtlCol="0" anchor="ctr"/>
          <a:lstStyle/>
          <a:p>
            <a:pPr algn="ctr" indent="0" marL="0">
              <a:buNone/>
            </a:pPr>
            <a:r>
              <a:rPr lang="en-US" sz="1200" dirty="0">
                <a:solidFill>
                  <a:schemeClr val="tx2"/>
                </a:solidFill>
              </a:rPr>
              <a:t>Juan</a:t>
            </a:r>
            <a:endParaRPr lang="en-US" sz="1200" dirty="0"/>
          </a:p>
        </p:txBody>
      </p:sp>
      <p:sp>
        <p:nvSpPr>
          <p:cNvPr id="4" name="titulo pedidos"/>
          <p:cNvSpPr txBox="1"/>
          <p:nvPr/>
        </p:nvSpPr>
        <p:spPr>
          <a:xfrm>
            <a:off x="548640" y="1463040"/>
            <a:ext cx="5303520" cy="457200"/>
          </a:xfrm>
          <a:prstGeom prst="rect">
            <a:avLst/>
          </a:prstGeom>
          <a:noFill/>
          <a:ln/>
        </p:spPr>
        <p:txBody>
          <a:bodyPr wrap="square" lIns="0" tIns="0" rIns="0" bIns="0" rtlCol="0" anchor="ctr"/>
          <a:lstStyle/>
          <a:p>
            <a:pPr indent="0" marL="0">
              <a:buNone/>
            </a:pPr>
            <a:r>
              <a:rPr lang="en-US" sz="2000" b="1" dirty="0">
                <a:solidFill>
                  <a:schemeClr val="accent1"/>
                </a:solidFill>
              </a:rPr>
              <a:t>Pedimos a los docentes</a:t>
            </a:r>
            <a:endParaRPr lang="en-US" sz="2000" dirty="0"/>
          </a:p>
        </p:txBody>
      </p:sp>
      <p:sp>
        <p:nvSpPr>
          <p:cNvPr id="5" name="lista pedidos"/>
          <p:cNvSpPr txBox="1"/>
          <p:nvPr/>
        </p:nvSpPr>
        <p:spPr>
          <a:xfrm>
            <a:off x="548640" y="2011680"/>
            <a:ext cx="5303520" cy="2194560"/>
          </a:xfrm>
          <a:prstGeom prst="rect">
            <a:avLst/>
          </a:prstGeom>
          <a:noFill/>
          <a:ln/>
        </p:spPr>
        <p:txBody>
          <a:bodyPr wrap="square" lIns="0" tIns="0" rIns="0" bIns="0" rtlCol="0" anchor="t"/>
          <a:lstStyle/>
          <a:p>
            <a:pPr marL="342900" indent="-342900">
              <a:spcAft>
                <a:spcPts val="800"/>
              </a:spcAft>
              <a:buSzPct val="100000"/>
              <a:buChar char="•"/>
            </a:pPr>
            <a:r>
              <a:rPr lang="en-US" sz="1600" dirty="0">
                <a:solidFill>
                  <a:schemeClr val="bg1"/>
                </a:solidFill>
              </a:rPr>
              <a:t>Ratificar o descartar OE5, OE6 y la ampliación de cámaras e IA</a:t>
            </a:r>
            <a:endParaRPr lang="en-US" sz="1600" dirty="0"/>
          </a:p>
          <a:p>
            <a:pPr marL="342900" indent="-342900">
              <a:spcAft>
                <a:spcPts val="800"/>
              </a:spcAft>
              <a:buSzPct val="100000"/>
              <a:buChar char="•"/>
            </a:pPr>
            <a:r>
              <a:rPr lang="en-US" sz="1600" dirty="0">
                <a:solidFill>
                  <a:schemeClr val="bg1"/>
                </a:solidFill>
              </a:rPr>
              <a:t>Validar el alcance reducido de OE1</a:t>
            </a:r>
            <a:endParaRPr lang="en-US" sz="1600" dirty="0"/>
          </a:p>
          <a:p>
            <a:pPr marL="342900" indent="-342900">
              <a:spcAft>
                <a:spcPts val="800"/>
              </a:spcAft>
              <a:buSzPct val="100000"/>
              <a:buChar char="•"/>
            </a:pPr>
            <a:r>
              <a:rPr lang="en-US" sz="1600" dirty="0">
                <a:solidFill>
                  <a:schemeClr val="bg1"/>
                </a:solidFill>
              </a:rPr>
              <a:t>Confirmar fechas de la entrega final y de la defensa</a:t>
            </a:r>
            <a:endParaRPr lang="en-US" sz="1600" dirty="0"/>
          </a:p>
        </p:txBody>
      </p:sp>
      <p:sp>
        <p:nvSpPr>
          <p:cNvPr id="6" name="hito fecha 0"/>
          <p:cNvSpPr txBox="1"/>
          <p:nvPr/>
        </p:nvSpPr>
        <p:spPr>
          <a:xfrm>
            <a:off x="6400800" y="1508760"/>
            <a:ext cx="1417320" cy="292608"/>
          </a:xfrm>
          <a:prstGeom prst="roundRect">
            <a:avLst>
              <a:gd name="adj" fmla="val 50000"/>
            </a:avLst>
          </a:prstGeom>
          <a:solidFill>
            <a:srgbClr val="F2A30F"/>
          </a:solidFill>
          <a:ln/>
        </p:spPr>
        <p:txBody>
          <a:bodyPr wrap="square" lIns="0" tIns="0" rIns="0" bIns="0" rtlCol="0" anchor="ctr"/>
          <a:lstStyle/>
          <a:p>
            <a:pPr algn="ctr" indent="0" marL="0">
              <a:buNone/>
            </a:pPr>
            <a:r>
              <a:rPr lang="en-US" sz="1100" b="1" dirty="0">
                <a:solidFill>
                  <a:srgbClr val="14213D"/>
                </a:solidFill>
              </a:rPr>
              <a:t>21/10</a:t>
            </a:r>
            <a:endParaRPr lang="en-US" sz="1100" dirty="0"/>
          </a:p>
        </p:txBody>
      </p:sp>
      <p:sp>
        <p:nvSpPr>
          <p:cNvPr id="7" name="hito texto 0"/>
          <p:cNvSpPr txBox="1"/>
          <p:nvPr/>
        </p:nvSpPr>
        <p:spPr>
          <a:xfrm>
            <a:off x="8001000" y="1463040"/>
            <a:ext cx="3657600" cy="411480"/>
          </a:xfrm>
          <a:prstGeom prst="rect">
            <a:avLst/>
          </a:prstGeom>
          <a:noFill/>
          <a:ln/>
        </p:spPr>
        <p:txBody>
          <a:bodyPr wrap="square" lIns="0" tIns="0" rIns="0" bIns="0" rtlCol="0" anchor="ctr"/>
          <a:lstStyle/>
          <a:p>
            <a:pPr indent="0" marL="0">
              <a:buNone/>
            </a:pPr>
            <a:r>
              <a:rPr lang="en-US" sz="1500" dirty="0">
                <a:solidFill>
                  <a:schemeClr val="bg1"/>
                </a:solidFill>
              </a:rPr>
              <a:t>Sprint 1: reporte con folio visible en la bandeja</a:t>
            </a:r>
            <a:endParaRPr lang="en-US" sz="1500" dirty="0"/>
          </a:p>
        </p:txBody>
      </p:sp>
      <p:sp>
        <p:nvSpPr>
          <p:cNvPr id="8" name="hito fecha 1"/>
          <p:cNvSpPr txBox="1"/>
          <p:nvPr/>
        </p:nvSpPr>
        <p:spPr>
          <a:xfrm>
            <a:off x="6400800" y="2532888"/>
            <a:ext cx="1417320" cy="292608"/>
          </a:xfrm>
          <a:prstGeom prst="roundRect">
            <a:avLst>
              <a:gd name="adj" fmla="val 50000"/>
            </a:avLst>
          </a:prstGeom>
          <a:solidFill>
            <a:srgbClr val="F2A30F"/>
          </a:solidFill>
          <a:ln/>
        </p:spPr>
        <p:txBody>
          <a:bodyPr wrap="square" lIns="0" tIns="0" rIns="0" bIns="0" rtlCol="0" anchor="ctr"/>
          <a:lstStyle/>
          <a:p>
            <a:pPr algn="ctr" indent="0" marL="0">
              <a:buNone/>
            </a:pPr>
            <a:r>
              <a:rPr lang="en-US" sz="1100" b="1" dirty="0">
                <a:solidFill>
                  <a:srgbClr val="14213D"/>
                </a:solidFill>
              </a:rPr>
              <a:t>04/11</a:t>
            </a:r>
            <a:endParaRPr lang="en-US" sz="1100" dirty="0"/>
          </a:p>
        </p:txBody>
      </p:sp>
      <p:sp>
        <p:nvSpPr>
          <p:cNvPr id="9" name="hito texto 1"/>
          <p:cNvSpPr txBox="1"/>
          <p:nvPr/>
        </p:nvSpPr>
        <p:spPr>
          <a:xfrm>
            <a:off x="8001000" y="2487168"/>
            <a:ext cx="3657600" cy="411480"/>
          </a:xfrm>
          <a:prstGeom prst="rect">
            <a:avLst/>
          </a:prstGeom>
          <a:noFill/>
          <a:ln/>
        </p:spPr>
        <p:txBody>
          <a:bodyPr wrap="square" lIns="0" tIns="0" rIns="0" bIns="0" rtlCol="0" anchor="ctr"/>
          <a:lstStyle/>
          <a:p>
            <a:pPr indent="0" marL="0">
              <a:buNone/>
            </a:pPr>
            <a:r>
              <a:rPr lang="en-US" sz="1500" dirty="0">
                <a:solidFill>
                  <a:schemeClr val="bg1"/>
                </a:solidFill>
              </a:rPr>
              <a:t>Piloto desplegado con colaboración y seguimiento</a:t>
            </a:r>
            <a:endParaRPr lang="en-US" sz="1500" dirty="0"/>
          </a:p>
        </p:txBody>
      </p:sp>
      <p:sp>
        <p:nvSpPr>
          <p:cNvPr id="10" name="hito fecha 2"/>
          <p:cNvSpPr txBox="1"/>
          <p:nvPr/>
        </p:nvSpPr>
        <p:spPr>
          <a:xfrm>
            <a:off x="6400800" y="3557016"/>
            <a:ext cx="1417320" cy="292608"/>
          </a:xfrm>
          <a:prstGeom prst="roundRect">
            <a:avLst>
              <a:gd name="adj" fmla="val 50000"/>
            </a:avLst>
          </a:prstGeom>
          <a:solidFill>
            <a:srgbClr val="F2A30F"/>
          </a:solidFill>
          <a:ln/>
        </p:spPr>
        <p:txBody>
          <a:bodyPr wrap="square" lIns="0" tIns="0" rIns="0" bIns="0" rtlCol="0" anchor="ctr"/>
          <a:lstStyle/>
          <a:p>
            <a:pPr algn="ctr" indent="0" marL="0">
              <a:buNone/>
            </a:pPr>
            <a:r>
              <a:rPr lang="en-US" sz="1100" b="1" dirty="0">
                <a:solidFill>
                  <a:srgbClr val="14213D"/>
                </a:solidFill>
              </a:rPr>
              <a:t>05–18/11</a:t>
            </a:r>
            <a:endParaRPr lang="en-US" sz="1100" dirty="0"/>
          </a:p>
        </p:txBody>
      </p:sp>
      <p:sp>
        <p:nvSpPr>
          <p:cNvPr id="11" name="hito texto 2"/>
          <p:cNvSpPr txBox="1"/>
          <p:nvPr/>
        </p:nvSpPr>
        <p:spPr>
          <a:xfrm>
            <a:off x="8001000" y="3511296"/>
            <a:ext cx="3657600" cy="411480"/>
          </a:xfrm>
          <a:prstGeom prst="rect">
            <a:avLst/>
          </a:prstGeom>
          <a:noFill/>
          <a:ln/>
        </p:spPr>
        <p:txBody>
          <a:bodyPr wrap="square" lIns="0" tIns="0" rIns="0" bIns="0" rtlCol="0" anchor="ctr"/>
          <a:lstStyle/>
          <a:p>
            <a:pPr indent="0" marL="0">
              <a:buNone/>
            </a:pPr>
            <a:r>
              <a:rPr lang="en-US" sz="1500" dirty="0">
                <a:solidFill>
                  <a:schemeClr val="bg1"/>
                </a:solidFill>
              </a:rPr>
              <a:t>Mediciones de OE2, OE3 y OE4</a:t>
            </a:r>
            <a:endParaRPr lang="en-US" sz="1500" dirty="0"/>
          </a:p>
        </p:txBody>
      </p:sp>
      <p:sp>
        <p:nvSpPr>
          <p:cNvPr id="12" name="hito fecha 3"/>
          <p:cNvSpPr txBox="1"/>
          <p:nvPr/>
        </p:nvSpPr>
        <p:spPr>
          <a:xfrm>
            <a:off x="6400800" y="4581144"/>
            <a:ext cx="1417320" cy="292608"/>
          </a:xfrm>
          <a:prstGeom prst="roundRect">
            <a:avLst>
              <a:gd name="adj" fmla="val 50000"/>
            </a:avLst>
          </a:prstGeom>
          <a:solidFill>
            <a:srgbClr val="F2A30F"/>
          </a:solidFill>
          <a:ln/>
        </p:spPr>
        <p:txBody>
          <a:bodyPr wrap="square" lIns="0" tIns="0" rIns="0" bIns="0" rtlCol="0" anchor="ctr"/>
          <a:lstStyle/>
          <a:p>
            <a:pPr algn="ctr" indent="0" marL="0">
              <a:buNone/>
            </a:pPr>
            <a:r>
              <a:rPr lang="en-US" sz="1100" b="1" dirty="0">
                <a:solidFill>
                  <a:srgbClr val="14213D"/>
                </a:solidFill>
              </a:rPr>
              <a:t>18/11</a:t>
            </a:r>
            <a:endParaRPr lang="en-US" sz="1100" dirty="0"/>
          </a:p>
        </p:txBody>
      </p:sp>
      <p:sp>
        <p:nvSpPr>
          <p:cNvPr id="13" name="hito texto 3"/>
          <p:cNvSpPr txBox="1"/>
          <p:nvPr/>
        </p:nvSpPr>
        <p:spPr>
          <a:xfrm>
            <a:off x="8001000" y="4535424"/>
            <a:ext cx="3657600" cy="411480"/>
          </a:xfrm>
          <a:prstGeom prst="rect">
            <a:avLst/>
          </a:prstGeom>
          <a:noFill/>
          <a:ln/>
        </p:spPr>
        <p:txBody>
          <a:bodyPr wrap="square" lIns="0" tIns="0" rIns="0" bIns="0" rtlCol="0" anchor="ctr"/>
          <a:lstStyle/>
          <a:p>
            <a:pPr indent="0" marL="0">
              <a:buNone/>
            </a:pPr>
            <a:r>
              <a:rPr lang="en-US" sz="1500" dirty="0">
                <a:solidFill>
                  <a:schemeClr val="bg1"/>
                </a:solidFill>
              </a:rPr>
              <a:t>Evaluación final y defensa</a:t>
            </a:r>
            <a:endParaRPr lang="en-US" sz="1500" dirty="0"/>
          </a:p>
        </p:txBody>
      </p:sp>
      <p:sp>
        <p:nvSpPr>
          <p:cNvPr id="14" name="gracias"/>
          <p:cNvSpPr txBox="1"/>
          <p:nvPr/>
        </p:nvSpPr>
        <p:spPr>
          <a:xfrm>
            <a:off x="548640" y="5669280"/>
            <a:ext cx="11064240" cy="548640"/>
          </a:xfrm>
          <a:prstGeom prst="rect">
            <a:avLst/>
          </a:prstGeom>
          <a:noFill/>
          <a:ln/>
        </p:spPr>
        <p:txBody>
          <a:bodyPr wrap="square" lIns="0" tIns="0" rIns="0" bIns="0" rtlCol="0" anchor="ctr"/>
          <a:lstStyle/>
          <a:p>
            <a:pPr indent="0" marL="0">
              <a:buNone/>
            </a:pPr>
            <a:r>
              <a:rPr lang="en-US" sz="2600" b="1" dirty="0">
                <a:solidFill>
                  <a:schemeClr val="bg1"/>
                </a:solidFill>
                <a:latin typeface="Cambria" pitchFamily="34" charset="0"/>
                <a:ea typeface="Cambria" pitchFamily="34" charset="-122"/>
                <a:cs typeface="Cambria" pitchFamily="34" charset="-120"/>
              </a:rPr>
              <a:t>Gracias · ¿Preguntas?</a:t>
            </a:r>
            <a:endParaRPr lang="en-US" sz="2600" dirty="0"/>
          </a:p>
        </p:txBody>
      </p:sp>
    </p:spTree>
  </p:cSld>
  <p:clrMapOvr>
    <a:masterClrMapping/>
  </p:clrMapOvr>
</p:sld>
</file>

<file path=ppt/theme/theme1.xml><?xml version="1.0" encoding="utf-8"?>
<a:theme xmlns:a="http://schemas.openxmlformats.org/drawingml/2006/main" name="RutaAlerta">
  <a:themeElements>
    <a:clrScheme name="RutaAlerta">
      <a:dk1>
        <a:srgbClr val="1B1F2A"/>
      </a:dk1>
      <a:lt1>
        <a:srgbClr val="FFFFFF"/>
      </a:lt1>
      <a:dk2>
        <a:srgbClr val="14213D"/>
      </a:dk2>
      <a:lt2>
        <a:srgbClr val="EEF1F6"/>
      </a:lt2>
      <a:accent1>
        <a:srgbClr val="F2A30F"/>
      </a:accent1>
      <a:accent2>
        <a:srgbClr val="2F855A"/>
      </a:accent2>
      <a:accent3>
        <a:srgbClr val="2B6CB0"/>
      </a:accent3>
      <a:accent4>
        <a:srgbClr val="6B7280"/>
      </a:accent4>
      <a:accent5>
        <a:srgbClr val="B7791F"/>
      </a:accent5>
      <a:accent6>
        <a:srgbClr val="C53030"/>
      </a:accent6>
      <a:hlink>
        <a:srgbClr val="2B6CB0"/>
      </a:hlink>
      <a:folHlink>
        <a:srgbClr val="6B7280"/>
      </a:folHlink>
    </a:clrScheme>
    <a:fontScheme name="RutaAlerta">
      <a:majorFont>
        <a:latin typeface="Cambria"/>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10</Slides>
  <Notes>10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10</vt:i4>
      </vt:variant>
    </vt:vector>
  </HeadingPairs>
  <TitlesOfParts>
    <vt:vector size="13"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RutaAlerta · Avance Fase 2</dc:title>
  <dc:subject>PptxGenJS Presentation</dc:subject>
  <dc:creator>Grupo 7</dc:creator>
  <cp:lastModifiedBy>Grupo 7</cp:lastModifiedBy>
  <cp:revision>1</cp:revision>
  <dcterms:created xsi:type="dcterms:W3CDTF">2026-10-14T14:54:38Z</dcterms:created>
  <dcterms:modified xsi:type="dcterms:W3CDTF">2026-10-14T14:54:38Z</dcterms:modified>
</cp:coreProperties>
</file>